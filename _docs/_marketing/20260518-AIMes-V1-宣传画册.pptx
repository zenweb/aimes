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AIMes V1</c:v>
                </c:pt>
              </c:strCache>
            </c:strRef>
          </c:tx>
          <c:spPr>
            <a:ln w="31750">
              <a:solidFill>
                <a:srgbClr val="00E5C7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AI 排程</c:v>
                </c:pt>
                <c:pt idx="1">
                  <c:v>实时预警</c:v>
                </c:pt>
                <c:pt idx="2">
                  <c:v>决策可解释</c:v>
                </c:pt>
                <c:pt idx="3">
                  <c:v>部署体验</c:v>
                </c:pt>
                <c:pt idx="4">
                  <c:v>扩展性</c:v>
                </c:pt>
                <c:pt idx="5">
                  <c:v>测试覆盖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9.2</c:v>
                </c:pt>
                <c:pt idx="1">
                  <c:v>8.8</c:v>
                </c:pt>
                <c:pt idx="2">
                  <c:v>9.5</c:v>
                </c:pt>
                <c:pt idx="3">
                  <c:v>9.0</c:v>
                </c:pt>
                <c:pt idx="4">
                  <c:v>8.5</c:v>
                </c:pt>
                <c:pt idx="5">
                  <c:v>9.3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传统 MES</c:v>
                </c:pt>
              </c:strCache>
            </c:strRef>
          </c:tx>
          <c:spPr>
            <a:ln w="22860">
              <a:solidFill>
                <a:srgbClr val="FF6B9D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AI 排程</c:v>
                </c:pt>
                <c:pt idx="1">
                  <c:v>实时预警</c:v>
                </c:pt>
                <c:pt idx="2">
                  <c:v>决策可解释</c:v>
                </c:pt>
                <c:pt idx="3">
                  <c:v>部署体验</c:v>
                </c:pt>
                <c:pt idx="4">
                  <c:v>扩展性</c:v>
                </c:pt>
                <c:pt idx="5">
                  <c:v>测试覆盖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3.5</c:v>
                </c:pt>
                <c:pt idx="1">
                  <c:v>4.2</c:v>
                </c:pt>
                <c:pt idx="2">
                  <c:v>3.0</c:v>
                </c:pt>
                <c:pt idx="3">
                  <c:v>5.5</c:v>
                </c:pt>
                <c:pt idx="4">
                  <c:v>4.5</c:v>
                </c:pt>
                <c:pt idx="5">
                  <c:v>4.0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crossAx val="2073612648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A4ADC7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规则引擎</c:v>
                </c:pt>
              </c:strCache>
            </c:strRef>
          </c:tx>
          <c:spPr>
            <a:solidFill>
              <a:srgbClr val="00E5C7"/>
            </a:solidFill>
          </c:spPr>
          <c:cat>
            <c:strRef>
              <c:f>Sheet1!$A$2:$A$6</c:f>
              <c:strCache>
                <c:ptCount val="5"/>
                <c:pt idx="0">
                  <c:v>交期达成</c:v>
                </c:pt>
                <c:pt idx="1">
                  <c:v>利用率</c:v>
                </c:pt>
                <c:pt idx="2">
                  <c:v>换型(↓)</c:v>
                </c:pt>
                <c:pt idx="3">
                  <c:v>耗时(↓)</c:v>
                </c:pt>
                <c:pt idx="4">
                  <c:v>可解释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97</c:v>
                </c:pt>
                <c:pt idx="1">
                  <c:v>88</c:v>
                </c:pt>
                <c:pt idx="2">
                  <c:v>82</c:v>
                </c:pt>
                <c:pt idx="3">
                  <c:v>95</c:v>
                </c:pt>
                <c:pt idx="4">
                  <c:v>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人工排产</c:v>
                </c:pt>
              </c:strCache>
            </c:strRef>
          </c:tx>
          <c:spPr>
            <a:solidFill>
              <a:srgbClr val="FF6B9D"/>
            </a:solidFill>
          </c:spPr>
          <c:cat>
            <c:strRef>
              <c:f>Sheet1!$A$2:$A$6</c:f>
              <c:strCache>
                <c:ptCount val="5"/>
                <c:pt idx="0">
                  <c:v>交期达成</c:v>
                </c:pt>
                <c:pt idx="1">
                  <c:v>利用率</c:v>
                </c:pt>
                <c:pt idx="2">
                  <c:v>换型(↓)</c:v>
                </c:pt>
                <c:pt idx="3">
                  <c:v>耗时(↓)</c:v>
                </c:pt>
                <c:pt idx="4">
                  <c:v>可解释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78</c:v>
                </c:pt>
                <c:pt idx="1">
                  <c:v>62</c:v>
                </c:pt>
                <c:pt idx="2">
                  <c:v>48</c:v>
                </c:pt>
                <c:pt idx="3">
                  <c:v>30</c:v>
                </c:pt>
                <c:pt idx="4">
                  <c:v>40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A4ADC7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DueDate</c:v>
                </c:pt>
              </c:strCache>
            </c:strRef>
          </c:tx>
          <c:spPr>
            <a:ln w="25400">
              <a:solidFill>
                <a:srgbClr val="FF6B9D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交期达成</c:v>
                </c:pt>
                <c:pt idx="1">
                  <c:v>利用率</c:v>
                </c:pt>
                <c:pt idx="2">
                  <c:v>换型节省</c:v>
                </c:pt>
                <c:pt idx="3">
                  <c:v>稳定性</c:v>
                </c:pt>
                <c:pt idx="4">
                  <c:v>求解速度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98</c:v>
                </c:pt>
                <c:pt idx="1">
                  <c:v>72</c:v>
                </c:pt>
                <c:pt idx="2">
                  <c:v>55</c:v>
                </c:pt>
                <c:pt idx="3">
                  <c:v>80</c:v>
                </c:pt>
                <c:pt idx="4">
                  <c:v>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Utilization</c:v>
                </c:pt>
              </c:strCache>
            </c:strRef>
          </c:tx>
          <c:spPr>
            <a:ln w="25400">
              <a:solidFill>
                <a:srgbClr val="00E5C7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交期达成</c:v>
                </c:pt>
                <c:pt idx="1">
                  <c:v>利用率</c:v>
                </c:pt>
                <c:pt idx="2">
                  <c:v>换型节省</c:v>
                </c:pt>
                <c:pt idx="3">
                  <c:v>稳定性</c:v>
                </c:pt>
                <c:pt idx="4">
                  <c:v>求解速度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78</c:v>
                </c:pt>
                <c:pt idx="1">
                  <c:v>96</c:v>
                </c:pt>
                <c:pt idx="2">
                  <c:v>65</c:v>
                </c:pt>
                <c:pt idx="3">
                  <c:v>82</c:v>
                </c:pt>
                <c:pt idx="4">
                  <c:v>90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Changeover</c:v>
                </c:pt>
              </c:strCache>
            </c:strRef>
          </c:tx>
          <c:spPr>
            <a:ln w="25400">
              <a:solidFill>
                <a:srgbClr val="FFB547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交期达成</c:v>
                </c:pt>
                <c:pt idx="1">
                  <c:v>利用率</c:v>
                </c:pt>
                <c:pt idx="2">
                  <c:v>换型节省</c:v>
                </c:pt>
                <c:pt idx="3">
                  <c:v>稳定性</c:v>
                </c:pt>
                <c:pt idx="4">
                  <c:v>求解速度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72</c:v>
                </c:pt>
                <c:pt idx="1">
                  <c:v>80</c:v>
                </c:pt>
                <c:pt idx="2">
                  <c:v>98</c:v>
                </c:pt>
                <c:pt idx="3">
                  <c:v>78</c:v>
                </c:pt>
                <c:pt idx="4">
                  <c:v>88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Balanced</c:v>
                </c:pt>
              </c:strCache>
            </c:strRef>
          </c:tx>
          <c:spPr>
            <a:ln w="25400">
              <a:solidFill>
                <a:srgbClr val="A78BFA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交期达成</c:v>
                </c:pt>
                <c:pt idx="1">
                  <c:v>利用率</c:v>
                </c:pt>
                <c:pt idx="2">
                  <c:v>换型节省</c:v>
                </c:pt>
                <c:pt idx="3">
                  <c:v>稳定性</c:v>
                </c:pt>
                <c:pt idx="4">
                  <c:v>求解速度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95</c:v>
                </c:pt>
                <c:pt idx="1">
                  <c:v>90</c:v>
                </c:pt>
                <c:pt idx="2">
                  <c:v>85</c:v>
                </c:pt>
                <c:pt idx="3">
                  <c:v>95</c:v>
                </c:pt>
                <c:pt idx="4">
                  <c:v>85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crossAx val="2073612648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A4ADC7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采纳</c:v>
                </c:pt>
              </c:strCache>
            </c:strRef>
          </c:tx>
          <c:spPr>
            <a:solidFill>
              <a:srgbClr val="00E5C7"/>
            </a:solidFill>
          </c:spPr>
          <c:cat>
            <c:strRef>
              <c:f>Sheet1!$A$2:$A$8</c:f>
              <c:strCache>
                <c:ptCount val="7"/>
                <c:pt idx="0">
                  <c:v>05/12</c:v>
                </c:pt>
                <c:pt idx="1">
                  <c:v>05/13</c:v>
                </c:pt>
                <c:pt idx="2">
                  <c:v>05/14</c:v>
                </c:pt>
                <c:pt idx="3">
                  <c:v>05/15</c:v>
                </c:pt>
                <c:pt idx="4">
                  <c:v>05/16</c:v>
                </c:pt>
                <c:pt idx="5">
                  <c:v>05/17</c:v>
                </c:pt>
                <c:pt idx="6">
                  <c:v>05/18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14</c:v>
                </c:pt>
                <c:pt idx="1">
                  <c:v>16</c:v>
                </c:pt>
                <c:pt idx="2">
                  <c:v>18</c:v>
                </c:pt>
                <c:pt idx="3">
                  <c:v>15</c:v>
                </c:pt>
                <c:pt idx="4">
                  <c:v>20</c:v>
                </c:pt>
                <c:pt idx="5">
                  <c:v>22</c:v>
                </c:pt>
                <c:pt idx="6">
                  <c:v>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调整后采纳</c:v>
                </c:pt>
              </c:strCache>
            </c:strRef>
          </c:tx>
          <c:spPr>
            <a:solidFill>
              <a:srgbClr val="4F8DFF"/>
            </a:solidFill>
          </c:spPr>
          <c:cat>
            <c:strRef>
              <c:f>Sheet1!$A$2:$A$8</c:f>
              <c:strCache>
                <c:ptCount val="7"/>
                <c:pt idx="0">
                  <c:v>05/12</c:v>
                </c:pt>
                <c:pt idx="1">
                  <c:v>05/13</c:v>
                </c:pt>
                <c:pt idx="2">
                  <c:v>05/14</c:v>
                </c:pt>
                <c:pt idx="3">
                  <c:v>05/15</c:v>
                </c:pt>
                <c:pt idx="4">
                  <c:v>05/16</c:v>
                </c:pt>
                <c:pt idx="5">
                  <c:v>05/17</c:v>
                </c:pt>
                <c:pt idx="6">
                  <c:v>05/18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6</c:v>
                </c:pt>
                <c:pt idx="4">
                  <c:v>4</c:v>
                </c:pt>
                <c:pt idx="5">
                  <c:v>3</c:v>
                </c:pt>
                <c:pt idx="6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拒绝</c:v>
                </c:pt>
              </c:strCache>
            </c:strRef>
          </c:tx>
          <c:spPr>
            <a:solidFill>
              <a:srgbClr val="FF6B9D"/>
            </a:solidFill>
          </c:spPr>
          <c:cat>
            <c:strRef>
              <c:f>Sheet1!$A$2:$A$8</c:f>
              <c:strCache>
                <c:ptCount val="7"/>
                <c:pt idx="0">
                  <c:v>05/12</c:v>
                </c:pt>
                <c:pt idx="1">
                  <c:v>05/13</c:v>
                </c:pt>
                <c:pt idx="2">
                  <c:v>05/14</c:v>
                </c:pt>
                <c:pt idx="3">
                  <c:v>05/15</c:v>
                </c:pt>
                <c:pt idx="4">
                  <c:v>05/16</c:v>
                </c:pt>
                <c:pt idx="5">
                  <c:v>05/17</c:v>
                </c:pt>
                <c:pt idx="6">
                  <c:v>05/18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A4ADC7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dPt>
            <c:idx val="0"/>
            <c:spPr>
              <a:solidFill>
                <a:srgbClr val="4F8DFF"/>
              </a:solidFill>
            </c:spPr>
          </c:dPt>
          <c:dPt>
            <c:idx val="1"/>
            <c:spPr>
              <a:solidFill>
                <a:srgbClr val="00E5C7"/>
              </a:solidFill>
            </c:spPr>
          </c:dPt>
          <c:dPt>
            <c:idx val="2"/>
            <c:spPr>
              <a:solidFill>
                <a:srgbClr val="FFB547"/>
              </a:solidFill>
            </c:spPr>
          </c:dPt>
          <c:dPt>
            <c:idx val="3"/>
            <c:spPr>
              <a:solidFill>
                <a:srgbClr val="A78BFA"/>
              </a:solidFill>
            </c:spPr>
          </c:dPt>
          <c:cat>
            <c:strRef>
              <c:f>Sheet1!$A$2:$A$5</c:f>
              <c:strCache>
                <c:ptCount val="4"/>
                <c:pt idx="0">
                  <c:v>单元测试</c:v>
                </c:pt>
                <c:pt idx="1">
                  <c:v>集成测试</c:v>
                </c:pt>
                <c:pt idx="2">
                  <c:v>E2E (Playwright)</c:v>
                </c:pt>
                <c:pt idx="3">
                  <c:v>BenchmarkDotNet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152</c:v>
                </c:pt>
                <c:pt idx="1">
                  <c:v>45</c:v>
                </c:pt>
                <c:pt idx="2">
                  <c:v>12</c:v>
                </c:pt>
                <c:pt idx="3">
                  <c:v>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000">
              <a:solidFill>
                <a:srgbClr val="A4ADC7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规则引擎</c:v>
                </c:pt>
              </c:strCache>
            </c:strRef>
          </c:tx>
          <c:spPr>
            <a:ln w="31750">
              <a:solidFill>
                <a:srgbClr val="00E5C7"/>
              </a:solidFill>
            </a:ln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10</c:v>
                </c:pt>
                <c:pt idx="1">
                  <c:v>30</c:v>
                </c:pt>
                <c:pt idx="2">
                  <c:v>50</c:v>
                </c:pt>
                <c:pt idx="3">
                  <c:v>100</c:v>
                </c:pt>
                <c:pt idx="4">
                  <c:v>200</c:v>
                </c:pt>
                <c:pt idx="5">
                  <c:v>500</c:v>
                </c:pt>
                <c:pt idx="6">
                  <c:v>1000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</c:v>
                </c:pt>
                <c:pt idx="1">
                  <c:v>18</c:v>
                </c:pt>
                <c:pt idx="2">
                  <c:v>28</c:v>
                </c:pt>
                <c:pt idx="3">
                  <c:v>55</c:v>
                </c:pt>
                <c:pt idx="4">
                  <c:v>118</c:v>
                </c:pt>
                <c:pt idx="5">
                  <c:v>310</c:v>
                </c:pt>
                <c:pt idx="6">
                  <c:v>680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规则+LLM</c:v>
                </c:pt>
              </c:strCache>
            </c:strRef>
          </c:tx>
          <c:spPr>
            <a:ln w="31750">
              <a:solidFill>
                <a:srgbClr val="A78BFA"/>
              </a:solidFill>
            </a:ln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10</c:v>
                </c:pt>
                <c:pt idx="1">
                  <c:v>30</c:v>
                </c:pt>
                <c:pt idx="2">
                  <c:v>50</c:v>
                </c:pt>
                <c:pt idx="3">
                  <c:v>100</c:v>
                </c:pt>
                <c:pt idx="4">
                  <c:v>200</c:v>
                </c:pt>
                <c:pt idx="5">
                  <c:v>500</c:v>
                </c:pt>
                <c:pt idx="6">
                  <c:v>1000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120</c:v>
                </c:pt>
                <c:pt idx="1">
                  <c:v>160</c:v>
                </c:pt>
                <c:pt idx="2">
                  <c:v>210</c:v>
                </c:pt>
                <c:pt idx="3">
                  <c:v>290</c:v>
                </c:pt>
                <c:pt idx="4">
                  <c:v>460</c:v>
                </c:pt>
                <c:pt idx="5">
                  <c:v>820</c:v>
                </c:pt>
                <c:pt idx="6">
                  <c:v>1500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A4ADC7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4F8D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5486400" cy="5486400"/>
          </a:xfrm>
          <a:prstGeom prst="ellipse">
            <a:avLst/>
          </a:prstGeom>
          <a:solidFill>
            <a:srgbClr val="00E5C7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256032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4F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11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4ADC7"/>
                </a:solidFill>
                <a:latin typeface="Microsoft YaHei UI"/>
              </a:rPr>
              <a:t>AIMes · Industrial AI 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011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494"/>
                </a:solidFill>
                <a:latin typeface="Microsoft YaHei UI"/>
              </a:rPr>
              <a:t>封面    ·    01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494"/>
                </a:solidFill>
                <a:latin typeface="Microsoft YaHei UI"/>
              </a:rPr>
              <a:t>AIMes V1 · 智能制造执行系统 · 宣传画册 · 2026.05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4922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494"/>
                </a:solidFill>
                <a:latin typeface="Microsoft YaHei UI"/>
              </a:rPr>
              <a:t>v0.1.0 · Apache 2.0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12280"/>
            <a:ext cx="870835" cy="45720"/>
          </a:xfrm>
          <a:prstGeom prst="rect">
            <a:avLst/>
          </a:prstGeom>
          <a:solidFill>
            <a:srgbClr val="00E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914400"/>
            <a:ext cx="1499616" cy="292608"/>
          </a:xfrm>
          <a:prstGeom prst="roundRect">
            <a:avLst>
              <a:gd name="adj" fmla="val 50000"/>
            </a:avLst>
          </a:prstGeom>
          <a:solidFill>
            <a:srgbClr val="1A2142"/>
          </a:solidFill>
          <a:ln w="9525">
            <a:solidFill>
              <a:srgbClr val="00E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950976"/>
            <a:ext cx="14996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0E5C7"/>
                </a:solidFill>
                <a:latin typeface="Microsoft YaHei UI"/>
              </a:rPr>
              <a:t>● V0.1.0 · 首发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914400"/>
            <a:ext cx="1499616" cy="292608"/>
          </a:xfrm>
          <a:prstGeom prst="roundRect">
            <a:avLst>
              <a:gd name="adj" fmla="val 50000"/>
            </a:avLst>
          </a:prstGeom>
          <a:solidFill>
            <a:srgbClr val="1A2142"/>
          </a:solidFill>
          <a:ln w="9525">
            <a:solidFill>
              <a:srgbClr val="4F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950976"/>
            <a:ext cx="14996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4F8DFF"/>
                </a:solidFill>
                <a:latin typeface="Microsoft YaHei UI"/>
              </a:rPr>
              <a:t>Apache 2.0 开源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914400"/>
            <a:ext cx="1645919" cy="292608"/>
          </a:xfrm>
          <a:prstGeom prst="roundRect">
            <a:avLst>
              <a:gd name="adj" fmla="val 50000"/>
            </a:avLst>
          </a:prstGeom>
          <a:solidFill>
            <a:srgbClr val="1A2142"/>
          </a:solidFill>
          <a:ln w="9525">
            <a:solidFill>
              <a:srgbClr val="FFB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950976"/>
            <a:ext cx="16459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B547"/>
                </a:solidFill>
                <a:latin typeface="Microsoft YaHei UI"/>
              </a:rPr>
              <a:t>.NET 10 · Vue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1554480"/>
            <a:ext cx="7315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0" b="1">
                <a:solidFill>
                  <a:srgbClr val="E8EBF5"/>
                </a:solidFill>
                <a:latin typeface="Microsoft YaHei UI"/>
              </a:rPr>
              <a:t>AIMes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69748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A4ADC7"/>
                </a:solidFill>
                <a:latin typeface="Microsoft YaHei UI"/>
              </a:rPr>
              <a:t>让 MES 从「记账」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2004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4F8DFF"/>
                </a:solidFill>
                <a:latin typeface="Microsoft YaHei UI"/>
              </a:rPr>
              <a:t>升级为「会预测的助手」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023360"/>
            <a:ext cx="7315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4ADC7"/>
                </a:solidFill>
                <a:latin typeface="Microsoft YaHei UI"/>
              </a:rPr>
              <a:t>以 AI 排产排程为核心的开源 MES——规则引擎 + 多目标优化 + LLM 混合精调，
每一次决策都可追溯，开箱即用。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12064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E5C7"/>
                </a:solidFill>
                <a:latin typeface="Microsoft YaHei UI"/>
              </a:rPr>
              <a:t>5min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6235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494"/>
                </a:solidFill>
                <a:latin typeface="Microsoft YaHei UI"/>
              </a:rPr>
              <a:t>一键启动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512064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E5C7"/>
                </a:solidFill>
                <a:latin typeface="Microsoft YaHei UI"/>
              </a:rPr>
              <a:t>13+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56235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494"/>
                </a:solidFill>
                <a:latin typeface="Microsoft YaHei UI"/>
              </a:rPr>
              <a:t>业务模块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512064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E5C7"/>
                </a:solidFill>
                <a:latin typeface="Microsoft YaHei UI"/>
              </a:rPr>
              <a:t>197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56235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494"/>
                </a:solidFill>
                <a:latin typeface="Microsoft YaHei UI"/>
              </a:rPr>
              <a:t>测试覆盖</a:t>
            </a:r>
          </a:p>
        </p:txBody>
      </p:sp>
      <p:sp>
        <p:nvSpPr>
          <p:cNvPr id="27" name="Oval 26"/>
          <p:cNvSpPr/>
          <p:nvPr/>
        </p:nvSpPr>
        <p:spPr>
          <a:xfrm>
            <a:off x="6949440" y="1280160"/>
            <a:ext cx="4754880" cy="4754880"/>
          </a:xfrm>
          <a:prstGeom prst="ellipse">
            <a:avLst/>
          </a:prstGeom>
          <a:noFill/>
          <a:ln w="6350">
            <a:solidFill>
              <a:srgbClr val="2A3255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498080" y="1828800"/>
            <a:ext cx="3657600" cy="3657600"/>
          </a:xfrm>
          <a:prstGeom prst="ellipse">
            <a:avLst/>
          </a:prstGeom>
          <a:noFill/>
          <a:ln w="6350">
            <a:solidFill>
              <a:srgbClr val="2A3255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46720" y="2377440"/>
            <a:ext cx="2560320" cy="2560320"/>
          </a:xfrm>
          <a:prstGeom prst="ellipse">
            <a:avLst/>
          </a:prstGeom>
          <a:noFill/>
          <a:ln w="6350">
            <a:solidFill>
              <a:srgbClr val="2A3255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03920" y="2834640"/>
            <a:ext cx="1645920" cy="1645920"/>
          </a:xfrm>
          <a:prstGeom prst="ellipse">
            <a:avLst/>
          </a:prstGeom>
          <a:noFill/>
          <a:ln w="6350">
            <a:solidFill>
              <a:srgbClr val="2A3255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03920" y="2834640"/>
            <a:ext cx="1645920" cy="1645920"/>
          </a:xfrm>
          <a:prstGeom prst="ellipse">
            <a:avLst/>
          </a:prstGeom>
          <a:solidFill>
            <a:srgbClr val="4F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0" y="349300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 UI"/>
              </a:rPr>
              <a:t>AIMes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97696" y="1499616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121836"/>
          </a:solidFill>
          <a:ln w="9525">
            <a:solidFill>
              <a:srgbClr val="00E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97696" y="1591056"/>
            <a:ext cx="6583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0E5C7"/>
                </a:solidFill>
                <a:latin typeface="Microsoft YaHei UI"/>
              </a:rPr>
              <a:t>排程
引擎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581483" y="2414017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121836"/>
          </a:solidFill>
          <a:ln w="9525">
            <a:solidFill>
              <a:srgbClr val="FFB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81483" y="2505457"/>
            <a:ext cx="6583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B547"/>
                </a:solidFill>
                <a:latin typeface="Microsoft YaHei UI"/>
              </a:rPr>
              <a:t>质量
SPC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581483" y="4242815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121836"/>
          </a:solidFill>
          <a:ln w="9525">
            <a:solidFill>
              <a:srgbClr val="FF6B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81483" y="4334255"/>
            <a:ext cx="6583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6B9D"/>
                </a:solidFill>
                <a:latin typeface="Microsoft YaHei UI"/>
              </a:rPr>
              <a:t>设备
健康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97696" y="5157216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121836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97696" y="5248656"/>
            <a:ext cx="6583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A78BFA"/>
                </a:solidFill>
                <a:latin typeface="Microsoft YaHei UI"/>
              </a:rPr>
              <a:t>风险
预警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13909" y="4242815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121836"/>
          </a:solidFill>
          <a:ln w="9525">
            <a:solidFill>
              <a:srgbClr val="4F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13909" y="4334255"/>
            <a:ext cx="6583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4F8DFF"/>
                </a:solidFill>
                <a:latin typeface="Microsoft YaHei UI"/>
              </a:rPr>
              <a:t>RAG
知识库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13909" y="2414017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121836"/>
          </a:solidFill>
          <a:ln w="9525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13909" y="2505457"/>
            <a:ext cx="6583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4ADE80"/>
                </a:solidFill>
                <a:latin typeface="Microsoft YaHei UI"/>
              </a:rPr>
              <a:t>决策
追溯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4F8D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5486400" cy="5486400"/>
          </a:xfrm>
          <a:prstGeom prst="ellipse">
            <a:avLst/>
          </a:prstGeom>
          <a:solidFill>
            <a:srgbClr val="00E5C7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256032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4F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11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4ADC7"/>
                </a:solidFill>
                <a:latin typeface="Microsoft YaHei UI"/>
              </a:rPr>
              <a:t>AIMes · Industrial AI 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011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494"/>
                </a:solidFill>
                <a:latin typeface="Microsoft YaHei UI"/>
              </a:rPr>
              <a:t>痛点诊断    ·    02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494"/>
                </a:solidFill>
                <a:latin typeface="Microsoft YaHei UI"/>
              </a:rPr>
              <a:t>AIMes V1 · 智能制造执行系统 · 宣传画册 · 2026.05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4922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494"/>
                </a:solidFill>
                <a:latin typeface="Microsoft YaHei UI"/>
              </a:rPr>
              <a:t>v0.1.0 · Apache 2.0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12280"/>
            <a:ext cx="1741670" cy="45720"/>
          </a:xfrm>
          <a:prstGeom prst="rect">
            <a:avLst/>
          </a:prstGeom>
          <a:solidFill>
            <a:srgbClr val="00E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841248"/>
            <a:ext cx="274320" cy="18288"/>
          </a:xfrm>
          <a:prstGeom prst="rect">
            <a:avLst/>
          </a:prstGeom>
          <a:solidFill>
            <a:srgbClr val="00E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777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E5C7"/>
                </a:solidFill>
                <a:latin typeface="Microsoft YaHei UI"/>
              </a:rPr>
              <a:t>PROBLEM · 工厂日常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1430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E8EBF5"/>
                </a:solidFill>
                <a:latin typeface="Microsoft YaHei UI"/>
              </a:rPr>
              <a:t>产线管理员每天都在「救火」，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783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B547"/>
                </a:solidFill>
                <a:latin typeface="Microsoft YaHei UI"/>
              </a:rPr>
              <a:t>而传统 MES 只会「记账」。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6060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4ADC7"/>
                </a:solidFill>
                <a:latin typeface="Microsoft YaHei UI"/>
              </a:rPr>
              <a:t>现有 MES 只记录「发生了什么」，从不告诉你「即将发生什么」。系统被忍受，而不被依赖。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83280"/>
            <a:ext cx="2606040" cy="2468880"/>
          </a:xfrm>
          <a:prstGeom prst="roundRect">
            <a:avLst>
              <a:gd name="adj" fmla="val 6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361188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A2142"/>
          </a:solidFill>
          <a:ln w="9525">
            <a:solidFill>
              <a:srgbClr val="FF6B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6118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FF6B9D"/>
                </a:solidFill>
                <a:latin typeface="Microsoft YaHei UI"/>
              </a:rPr>
              <a:t>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60520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6B9D"/>
                </a:solidFill>
                <a:latin typeface="Microsoft YaHei UI"/>
              </a:rPr>
              <a:t>07:23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80060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494"/>
                </a:solidFill>
                <a:latin typeface="Microsoft YaHei UI"/>
              </a:rPr>
              <a:t>早班开工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6636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4ADC7"/>
                </a:solidFill>
                <a:latin typeface="Microsoft YaHei UI"/>
              </a:rPr>
              <a:t>设备故障未预警，工单延期，连锁反应已开始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1839" y="3383280"/>
            <a:ext cx="2606040" cy="2468880"/>
          </a:xfrm>
          <a:prstGeom prst="roundRect">
            <a:avLst>
              <a:gd name="adj" fmla="val 6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520439" y="361188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A2142"/>
          </a:solidFill>
          <a:ln w="9525">
            <a:solidFill>
              <a:srgbClr val="FF6B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39" y="36118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FF6B9D"/>
                </a:solidFill>
                <a:latin typeface="Microsoft YaHei UI"/>
              </a:rPr>
              <a:t>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39" y="4160520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6B9D"/>
                </a:solidFill>
                <a:latin typeface="Microsoft YaHei UI"/>
              </a:rPr>
              <a:t>2.5h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39" y="480060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494"/>
                </a:solidFill>
                <a:latin typeface="Microsoft YaHei UI"/>
              </a:rPr>
              <a:t>每日 Excel 排产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39" y="516636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4ADC7"/>
                </a:solidFill>
                <a:latin typeface="Microsoft YaHei UI"/>
              </a:rPr>
              <a:t>手工排产靠经验，多目标无法兼顾，换型成本高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80759" y="3383280"/>
            <a:ext cx="2606040" cy="2468880"/>
          </a:xfrm>
          <a:prstGeom prst="roundRect">
            <a:avLst>
              <a:gd name="adj" fmla="val 6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09359" y="361188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A2142"/>
          </a:solidFill>
          <a:ln w="9525">
            <a:solidFill>
              <a:srgbClr val="FF6B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59" y="36118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FF6B9D"/>
                </a:solidFill>
                <a:latin typeface="Microsoft YaHei UI"/>
              </a:rPr>
              <a:t>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59" y="4160520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6B9D"/>
                </a:solidFill>
                <a:latin typeface="Microsoft YaHei UI"/>
              </a:rPr>
              <a:t>38%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59" y="480060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494"/>
                </a:solidFill>
                <a:latin typeface="Microsoft YaHei UI"/>
              </a:rPr>
              <a:t>采集机不可用率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59" y="516636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4ADC7"/>
                </a:solidFill>
                <a:latin typeface="Microsoft YaHei UI"/>
              </a:rPr>
              <a:t>边缘设备宕机频繁，数据采集断断续续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69680" y="3383280"/>
            <a:ext cx="2606040" cy="2468880"/>
          </a:xfrm>
          <a:prstGeom prst="roundRect">
            <a:avLst>
              <a:gd name="adj" fmla="val 6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098280" y="361188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A2142"/>
          </a:solidFill>
          <a:ln w="9525">
            <a:solidFill>
              <a:srgbClr val="FF6B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98280" y="36118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FF6B9D"/>
                </a:solidFill>
                <a:latin typeface="Microsoft YaHei UI"/>
              </a:rPr>
              <a:t>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80" y="4160520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6B9D"/>
                </a:solidFill>
                <a:latin typeface="Microsoft YaHei UI"/>
              </a:rPr>
              <a:t>14+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80" y="480060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494"/>
                </a:solidFill>
                <a:latin typeface="Microsoft YaHei UI"/>
              </a:rPr>
              <a:t>每日异常巡检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80" y="516636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4ADC7"/>
                </a:solidFill>
                <a:latin typeface="Microsoft YaHei UI"/>
              </a:rPr>
              <a:t>人工巡检发现问题，等出问题再补救，永远滞后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989320"/>
            <a:ext cx="11155680" cy="457200"/>
          </a:xfrm>
          <a:prstGeom prst="roundRect">
            <a:avLst>
              <a:gd name="adj" fmla="val 15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40080" y="6053328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1A2142"/>
          </a:solidFill>
          <a:ln w="9525">
            <a:solidFill>
              <a:srgbClr val="FF6B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6089904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6B9D"/>
                </a:solidFill>
                <a:latin typeface="Microsoft YaHei UI"/>
              </a:rPr>
              <a:t>用户原话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605332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EBF5"/>
                </a:solidFill>
                <a:latin typeface="Microsoft YaHei UI"/>
              </a:rPr>
              <a:t>"系统记了一堆，可它从没在出事之前提醒我一句。"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6053328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494"/>
                </a:solidFill>
                <a:latin typeface="Microsoft YaHei UI"/>
              </a:rPr>
              <a:t>— 某汽配厂产线总管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4F8D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5486400" cy="5486400"/>
          </a:xfrm>
          <a:prstGeom prst="ellipse">
            <a:avLst/>
          </a:prstGeom>
          <a:solidFill>
            <a:srgbClr val="00E5C7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256032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4F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11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4ADC7"/>
                </a:solidFill>
                <a:latin typeface="Microsoft YaHei UI"/>
              </a:rPr>
              <a:t>AIMes · Industrial AI 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011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494"/>
                </a:solidFill>
                <a:latin typeface="Microsoft YaHei UI"/>
              </a:rPr>
              <a:t>产品定位    ·    03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494"/>
                </a:solidFill>
                <a:latin typeface="Microsoft YaHei UI"/>
              </a:rPr>
              <a:t>AIMes V1 · 智能制造执行系统 · 宣传画册 · 2026.05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4922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494"/>
                </a:solidFill>
                <a:latin typeface="Microsoft YaHei UI"/>
              </a:rPr>
              <a:t>v0.1.0 · Apache 2.0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12280"/>
            <a:ext cx="2612506" cy="45720"/>
          </a:xfrm>
          <a:prstGeom prst="rect">
            <a:avLst/>
          </a:prstGeom>
          <a:solidFill>
            <a:srgbClr val="00E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841248"/>
            <a:ext cx="274320" cy="18288"/>
          </a:xfrm>
          <a:prstGeom prst="rect">
            <a:avLst/>
          </a:prstGeom>
          <a:solidFill>
            <a:srgbClr val="00E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777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E5C7"/>
                </a:solidFill>
                <a:latin typeface="Microsoft YaHei UI"/>
              </a:rPr>
              <a:t>PRODUCT · 三柱定位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1430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E8EBF5"/>
                </a:solidFill>
                <a:latin typeface="Microsoft YaHei UI"/>
              </a:rPr>
              <a:t>不只是 MES，更是产线管理员的 AI 副驾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874519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4ADC7"/>
                </a:solidFill>
                <a:latin typeface="Microsoft YaHei UI"/>
              </a:rPr>
              <a:t>从被动记账到主动预测——三个维度，重新定义「智能」二字。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606040"/>
            <a:ext cx="3611880" cy="3383280"/>
          </a:xfrm>
          <a:prstGeom prst="roundRect">
            <a:avLst>
              <a:gd name="adj" fmla="val 5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2834640"/>
            <a:ext cx="640080" cy="640080"/>
          </a:xfrm>
          <a:prstGeom prst="roundRect">
            <a:avLst>
              <a:gd name="adj" fmla="val 25000"/>
            </a:avLst>
          </a:prstGeom>
          <a:solidFill>
            <a:srgbClr val="1A2142"/>
          </a:solidFill>
          <a:ln w="9525">
            <a:solidFill>
              <a:srgbClr val="4F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8346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0">
                <a:solidFill>
                  <a:srgbClr val="4F8DFF"/>
                </a:solidFill>
                <a:latin typeface="Microsoft YaHei UI"/>
              </a:rPr>
              <a:t>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6118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8EBF5"/>
                </a:solidFill>
                <a:latin typeface="Microsoft YaHei UI"/>
              </a:rPr>
              <a:t>AI 预测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11480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4ADC7"/>
                </a:solidFill>
                <a:latin typeface="Microsoft YaHei UI"/>
              </a:rPr>
              <a:t>不止排产排程，还要预测设备故障、物料齐套、产能瓶颈。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846320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4ADC7"/>
                </a:solidFill>
                <a:latin typeface="Microsoft YaHei UI"/>
              </a:rPr>
              <a:t>▸  规则引擎 EDD / SPT / WSPT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120640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4ADC7"/>
                </a:solidFill>
                <a:latin typeface="Microsoft YaHei UI"/>
              </a:rPr>
              <a:t>▸  多目标 Pareto 优化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394959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4ADC7"/>
                </a:solidFill>
                <a:latin typeface="Microsoft YaHei UI"/>
              </a:rPr>
              <a:t>▸  LLM 混合精调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669279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4ADC7"/>
                </a:solidFill>
                <a:latin typeface="Microsoft YaHei UI"/>
              </a:rPr>
              <a:t>▸  风险预警 4 大类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25112" y="2606040"/>
            <a:ext cx="3611880" cy="3383280"/>
          </a:xfrm>
          <a:prstGeom prst="roundRect">
            <a:avLst>
              <a:gd name="adj" fmla="val 5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99432" y="2834640"/>
            <a:ext cx="640080" cy="640080"/>
          </a:xfrm>
          <a:prstGeom prst="roundRect">
            <a:avLst>
              <a:gd name="adj" fmla="val 25000"/>
            </a:avLst>
          </a:prstGeom>
          <a:solidFill>
            <a:srgbClr val="1A2142"/>
          </a:solidFill>
          <a:ln w="9525">
            <a:solidFill>
              <a:srgbClr val="00E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9432" y="28346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0">
                <a:solidFill>
                  <a:srgbClr val="00E5C7"/>
                </a:solidFill>
                <a:latin typeface="Microsoft YaHei UI"/>
              </a:rPr>
              <a:t>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9432" y="36118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8EBF5"/>
                </a:solidFill>
                <a:latin typeface="Microsoft YaHei UI"/>
              </a:rPr>
              <a:t>决策可追溯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9432" y="411480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4ADC7"/>
                </a:solidFill>
                <a:latin typeface="Microsoft YaHei UI"/>
              </a:rPr>
              <a:t>每一次 AI 决策都有 prompt hash + context + 输入输出链路。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4846320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4ADC7"/>
                </a:solidFill>
                <a:latin typeface="Microsoft YaHei UI"/>
              </a:rPr>
              <a:t>▸  AiDecisionTrace 全链路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2" y="5120640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4ADC7"/>
                </a:solidFill>
                <a:latin typeface="Microsoft YaHei UI"/>
              </a:rPr>
              <a:t>▸  Model / Prompt 哈希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9432" y="5394959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4ADC7"/>
                </a:solidFill>
                <a:latin typeface="Microsoft YaHei UI"/>
              </a:rPr>
              <a:t>▸  采纳反馈反哺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9432" y="5669279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4ADC7"/>
                </a:solidFill>
                <a:latin typeface="Microsoft YaHei UI"/>
              </a:rPr>
              <a:t>▸  审计日志 + JSON Diff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47304" y="2606040"/>
            <a:ext cx="3611880" cy="3383280"/>
          </a:xfrm>
          <a:prstGeom prst="roundRect">
            <a:avLst>
              <a:gd name="adj" fmla="val 5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21624" y="2834640"/>
            <a:ext cx="640080" cy="640080"/>
          </a:xfrm>
          <a:prstGeom prst="roundRect">
            <a:avLst>
              <a:gd name="adj" fmla="val 25000"/>
            </a:avLst>
          </a:prstGeom>
          <a:solidFill>
            <a:srgbClr val="1A2142"/>
          </a:solidFill>
          <a:ln w="9525">
            <a:solidFill>
              <a:srgbClr val="FFB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21624" y="28346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0">
                <a:solidFill>
                  <a:srgbClr val="FFB547"/>
                </a:solidFill>
                <a:latin typeface="Microsoft YaHei UI"/>
              </a:rPr>
              <a:t>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21624" y="36118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8EBF5"/>
                </a:solidFill>
                <a:latin typeface="Microsoft YaHei UI"/>
              </a:rPr>
              <a:t>开箱即用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21624" y="411480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4ADC7"/>
                </a:solidFill>
                <a:latin typeface="Microsoft YaHei UI"/>
              </a:rPr>
              <a:t>Docker Compose 一键启动，5 分钟看到带演示数据的甘特图。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21624" y="4846320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4ADC7"/>
                </a:solidFill>
                <a:latin typeface="Microsoft YaHei UI"/>
              </a:rPr>
              <a:t>▸  5 容器一键拉起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21624" y="5120640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4ADC7"/>
                </a:solidFill>
                <a:latin typeface="Microsoft YaHei UI"/>
              </a:rPr>
              <a:t>▸  13+ 业务看板内置降级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21624" y="5394959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4ADC7"/>
                </a:solidFill>
                <a:latin typeface="Microsoft YaHei UI"/>
              </a:rPr>
              <a:t>▸  JWT + 4 角色权限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21624" y="5669279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4ADC7"/>
                </a:solidFill>
                <a:latin typeface="Microsoft YaHei UI"/>
              </a:rPr>
              <a:t>▸  API 文档 / 健康检查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4F8D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5486400" cy="5486400"/>
          </a:xfrm>
          <a:prstGeom prst="ellipse">
            <a:avLst/>
          </a:prstGeom>
          <a:solidFill>
            <a:srgbClr val="00E5C7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256032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4F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11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4ADC7"/>
                </a:solidFill>
                <a:latin typeface="Microsoft YaHei UI"/>
              </a:rPr>
              <a:t>AIMes · Industrial AI 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011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494"/>
                </a:solidFill>
                <a:latin typeface="Microsoft YaHei UI"/>
              </a:rPr>
              <a:t>能力总览    ·    04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494"/>
                </a:solidFill>
                <a:latin typeface="Microsoft YaHei UI"/>
              </a:rPr>
              <a:t>AIMes V1 · 智能制造执行系统 · 宣传画册 · 2026.05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4922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494"/>
                </a:solidFill>
                <a:latin typeface="Microsoft YaHei UI"/>
              </a:rPr>
              <a:t>v0.1.0 · Apache 2.0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12280"/>
            <a:ext cx="3483341" cy="45720"/>
          </a:xfrm>
          <a:prstGeom prst="rect">
            <a:avLst/>
          </a:prstGeom>
          <a:solidFill>
            <a:srgbClr val="00E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841248"/>
            <a:ext cx="274320" cy="18288"/>
          </a:xfrm>
          <a:prstGeom prst="rect">
            <a:avLst/>
          </a:prstGeom>
          <a:solidFill>
            <a:srgbClr val="00E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777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E5C7"/>
                </a:solidFill>
                <a:latin typeface="Microsoft YaHei UI"/>
              </a:rPr>
              <a:t>CAPABILITY · 能力总览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1430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E8EBF5"/>
                </a:solidFill>
                <a:latin typeface="Microsoft YaHei UI"/>
              </a:rPr>
              <a:t>六维能力雷达 · 开源版同样硬核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103120"/>
            <a:ext cx="6217920" cy="4114800"/>
          </a:xfrm>
          <a:prstGeom prst="roundRect">
            <a:avLst>
              <a:gd name="adj" fmla="val 4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40080" y="2286000"/>
          <a:ext cx="594360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7040880" y="2103120"/>
            <a:ext cx="4663440" cy="749808"/>
          </a:xfrm>
          <a:prstGeom prst="roundRect">
            <a:avLst>
              <a:gd name="adj" fmla="val 8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78040" y="2249424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A2142"/>
          </a:solidFill>
          <a:ln w="9525">
            <a:solidFill>
              <a:srgbClr val="4F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4F8DFF"/>
                </a:solidFill>
                <a:latin typeface="Microsoft YaHei UI"/>
              </a:rPr>
              <a:t>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219456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EBF5"/>
                </a:solidFill>
                <a:latin typeface="Microsoft YaHei UI"/>
              </a:rPr>
              <a:t>AI 排程引擎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25146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494"/>
                </a:solidFill>
                <a:latin typeface="Microsoft YaHei UI"/>
              </a:rPr>
              <a:t>规则 + 优化 + LLM 三段式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27080" y="2267712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2000" b="1">
                <a:solidFill>
                  <a:srgbClr val="4F8DFF"/>
                </a:solidFill>
                <a:latin typeface="Microsoft YaHei UI"/>
              </a:rPr>
              <a:t>9.2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0" y="2944368"/>
            <a:ext cx="4663440" cy="749808"/>
          </a:xfrm>
          <a:prstGeom prst="roundRect">
            <a:avLst>
              <a:gd name="adj" fmla="val 8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78040" y="3090672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A2142"/>
          </a:solidFill>
          <a:ln w="9525">
            <a:solidFill>
              <a:srgbClr val="00E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78040" y="31089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00E5C7"/>
                </a:solidFill>
                <a:latin typeface="Microsoft YaHei UI"/>
              </a:rPr>
              <a:t>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3035808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EBF5"/>
                </a:solidFill>
                <a:latin typeface="Microsoft YaHei UI"/>
              </a:rPr>
              <a:t>决策可追溯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335584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494"/>
                </a:solidFill>
                <a:latin typeface="Microsoft YaHei UI"/>
              </a:rPr>
              <a:t>每个决策可回溯至 prompt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27080" y="3108960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2000" b="1">
                <a:solidFill>
                  <a:srgbClr val="00E5C7"/>
                </a:solidFill>
                <a:latin typeface="Microsoft YaHei UI"/>
              </a:rPr>
              <a:t>9.5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40880" y="3785615"/>
            <a:ext cx="4663440" cy="749808"/>
          </a:xfrm>
          <a:prstGeom prst="roundRect">
            <a:avLst>
              <a:gd name="adj" fmla="val 8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178040" y="3931919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A2142"/>
          </a:solidFill>
          <a:ln w="9525">
            <a:solidFill>
              <a:srgbClr val="FFB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78040" y="3950207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B547"/>
                </a:solidFill>
                <a:latin typeface="Microsoft YaHei UI"/>
              </a:rPr>
              <a:t>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3877055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EBF5"/>
                </a:solidFill>
                <a:latin typeface="Microsoft YaHei UI"/>
              </a:rPr>
              <a:t>实时预警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4197095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494"/>
                </a:solidFill>
                <a:latin typeface="Microsoft YaHei UI"/>
              </a:rPr>
              <a:t>SignalR 6 类通知 + Toast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27080" y="3950207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2000" b="1">
                <a:solidFill>
                  <a:srgbClr val="FFB547"/>
                </a:solidFill>
                <a:latin typeface="Microsoft YaHei UI"/>
              </a:rPr>
              <a:t>8.8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40880" y="4626864"/>
            <a:ext cx="4663440" cy="749808"/>
          </a:xfrm>
          <a:prstGeom prst="roundRect">
            <a:avLst>
              <a:gd name="adj" fmla="val 8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178040" y="4773168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A2142"/>
          </a:solidFill>
          <a:ln w="9525">
            <a:solidFill>
              <a:srgbClr val="FF6B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78040" y="479145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6B9D"/>
                </a:solidFill>
                <a:latin typeface="Microsoft YaHei UI"/>
              </a:rPr>
              <a:t>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20" y="4718304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EBF5"/>
                </a:solidFill>
                <a:latin typeface="Microsoft YaHei UI"/>
              </a:rPr>
              <a:t>开箱体验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18120" y="503834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494"/>
                </a:solidFill>
                <a:latin typeface="Microsoft YaHei UI"/>
              </a:rPr>
              <a:t>5 min 一键启动 + 演示数据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27080" y="4791456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2000" b="1">
                <a:solidFill>
                  <a:srgbClr val="FF6B9D"/>
                </a:solidFill>
                <a:latin typeface="Microsoft YaHei UI"/>
              </a:rPr>
              <a:t>9.0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040880" y="5468112"/>
            <a:ext cx="4663440" cy="749808"/>
          </a:xfrm>
          <a:prstGeom prst="roundRect">
            <a:avLst>
              <a:gd name="adj" fmla="val 8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178040" y="5614416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A2142"/>
          </a:solidFill>
          <a:ln w="9525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78040" y="563270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4ADE80"/>
                </a:solidFill>
                <a:latin typeface="Microsoft YaHei UI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18120" y="5559552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EBF5"/>
                </a:solidFill>
                <a:latin typeface="Microsoft YaHei UI"/>
              </a:rPr>
              <a:t>测试与质量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18120" y="587959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494"/>
                </a:solidFill>
                <a:latin typeface="Microsoft YaHei UI"/>
              </a:rPr>
              <a:t>197 测试 · CI 阻断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27080" y="5632704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2000" b="1">
                <a:solidFill>
                  <a:srgbClr val="4ADE80"/>
                </a:solidFill>
                <a:latin typeface="Microsoft YaHei UI"/>
              </a:rPr>
              <a:t>9.3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4F8D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5486400" cy="5486400"/>
          </a:xfrm>
          <a:prstGeom prst="ellipse">
            <a:avLst/>
          </a:prstGeom>
          <a:solidFill>
            <a:srgbClr val="00E5C7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256032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4F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11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4ADC7"/>
                </a:solidFill>
                <a:latin typeface="Microsoft YaHei UI"/>
              </a:rPr>
              <a:t>AIMes · Industrial AI 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011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494"/>
                </a:solidFill>
                <a:latin typeface="Microsoft YaHei UI"/>
              </a:rPr>
              <a:t>排程引擎    ·    05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494"/>
                </a:solidFill>
                <a:latin typeface="Microsoft YaHei UI"/>
              </a:rPr>
              <a:t>AIMes V1 · 智能制造执行系统 · 宣传画册 · 2026.05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4922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494"/>
                </a:solidFill>
                <a:latin typeface="Microsoft YaHei UI"/>
              </a:rPr>
              <a:t>v0.1.0 · Apache 2.0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12280"/>
            <a:ext cx="4354176" cy="45720"/>
          </a:xfrm>
          <a:prstGeom prst="rect">
            <a:avLst/>
          </a:prstGeom>
          <a:solidFill>
            <a:srgbClr val="00E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841248"/>
            <a:ext cx="274320" cy="18288"/>
          </a:xfrm>
          <a:prstGeom prst="rect">
            <a:avLst/>
          </a:prstGeom>
          <a:solidFill>
            <a:srgbClr val="00E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777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E5C7"/>
                </a:solidFill>
                <a:latin typeface="Microsoft YaHei UI"/>
              </a:rPr>
              <a:t>SCHEDULING · 核心引擎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1430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E8EBF5"/>
                </a:solidFill>
                <a:latin typeface="Microsoft YaHei UI"/>
              </a:rPr>
              <a:t>三段式架构 · 规则保底，AI 增益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783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4ADC7"/>
                </a:solidFill>
                <a:latin typeface="Microsoft YaHei UI"/>
              </a:rPr>
              <a:t>确定性规则引擎产出可行解，LLM 在其上做局部精调，硬约束验证强制兜底——快、稳、可解释。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33172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46888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E5C7"/>
                </a:solidFill>
                <a:latin typeface="JetBrains Mono"/>
              </a:rPr>
              <a:t>STEP 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78892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EBF5"/>
                </a:solidFill>
                <a:latin typeface="Microsoft YaHei UI"/>
              </a:rPr>
              <a:t>规则引擎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15468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4ADC7"/>
                </a:solidFill>
                <a:latin typeface="Microsoft YaHei UI"/>
              </a:rPr>
              <a:t>EDD/SPT/WSPT + 最小负载
+ 瓶颈优先 + 换线感知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218688" y="2926080"/>
            <a:ext cx="164592" cy="219456"/>
          </a:xfrm>
          <a:prstGeom prst="rightArrow">
            <a:avLst/>
          </a:prstGeom>
          <a:solidFill>
            <a:srgbClr val="00E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337560" y="233172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246888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E5C7"/>
                </a:solidFill>
                <a:latin typeface="JetBrains Mono"/>
              </a:rPr>
              <a:t>STEP 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278892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EBF5"/>
                </a:solidFill>
                <a:latin typeface="Microsoft YaHei UI"/>
              </a:rPr>
              <a:t>约束验证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15468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4ADC7"/>
                </a:solidFill>
                <a:latin typeface="Microsoft YaHei UI"/>
              </a:rPr>
              <a:t>容量 / 物料 / 工艺
锁定周期 / 设备能力多重校验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053328" y="2926080"/>
            <a:ext cx="164592" cy="219456"/>
          </a:xfrm>
          <a:prstGeom prst="rightArrow">
            <a:avLst/>
          </a:prstGeom>
          <a:solidFill>
            <a:srgbClr val="00E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72200" y="233172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246888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E5C7"/>
                </a:solidFill>
                <a:latin typeface="JetBrains Mono"/>
              </a:rPr>
              <a:t>STEP 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78892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EBF5"/>
                </a:solidFill>
                <a:latin typeface="Microsoft YaHei UI"/>
              </a:rPr>
              <a:t>LLM 精调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15468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4ADC7"/>
                </a:solidFill>
                <a:latin typeface="Microsoft YaHei UI"/>
              </a:rPr>
              <a:t>设备选择与顺序的局部优化
输出受约束再验证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887968" y="2926080"/>
            <a:ext cx="164592" cy="219456"/>
          </a:xfrm>
          <a:prstGeom prst="rightArrow">
            <a:avLst/>
          </a:prstGeom>
          <a:solidFill>
            <a:srgbClr val="00E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006840" y="233172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9720" y="246888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E5C7"/>
                </a:solidFill>
                <a:latin typeface="JetBrains Mono"/>
              </a:rPr>
              <a:t>STEP 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278892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EBF5"/>
                </a:solidFill>
                <a:latin typeface="Microsoft YaHei UI"/>
              </a:rPr>
              <a:t>失败回退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315468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4ADC7"/>
                </a:solidFill>
                <a:latin typeface="Microsoft YaHei UI"/>
              </a:rPr>
              <a:t>违反硬约束自动降级到规则引擎方案
所有决策写 Trace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3931920"/>
            <a:ext cx="6400800" cy="2468880"/>
          </a:xfrm>
          <a:prstGeom prst="roundRect">
            <a:avLst>
              <a:gd name="adj" fmla="val 5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069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E5C7"/>
                </a:solidFill>
                <a:latin typeface="Microsoft YaHei UI"/>
              </a:rPr>
              <a:t>设备分组排程甘特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43434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494"/>
                </a:solidFill>
                <a:latin typeface="Microsoft YaHei UI"/>
              </a:rPr>
              <a:t>瓶颈高亮 · 冲突闪烁 · 拖拽调整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709160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A4ADC7"/>
                </a:solidFill>
                <a:latin typeface="Microsoft YaHei UI"/>
              </a:rPr>
              <a:t>EQ-A1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71600" y="4709160"/>
            <a:ext cx="1470877" cy="256032"/>
          </a:xfrm>
          <a:prstGeom prst="roundRect">
            <a:avLst>
              <a:gd name="adj" fmla="val 20000"/>
            </a:avLst>
          </a:prstGeom>
          <a:solidFill>
            <a:srgbClr val="4F8D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860765" y="4709160"/>
            <a:ext cx="1098586" cy="256032"/>
          </a:xfrm>
          <a:prstGeom prst="roundRect">
            <a:avLst>
              <a:gd name="adj" fmla="val 20000"/>
            </a:avLst>
          </a:prstGeom>
          <a:solidFill>
            <a:srgbClr val="00E5C7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977640" y="4709160"/>
            <a:ext cx="1470877" cy="256032"/>
          </a:xfrm>
          <a:prstGeom prst="roundRect">
            <a:avLst>
              <a:gd name="adj" fmla="val 20000"/>
            </a:avLst>
          </a:prstGeom>
          <a:solidFill>
            <a:srgbClr val="A78BF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466805" y="4709160"/>
            <a:ext cx="1098586" cy="256032"/>
          </a:xfrm>
          <a:prstGeom prst="roundRect">
            <a:avLst>
              <a:gd name="adj" fmla="val 20000"/>
            </a:avLst>
          </a:prstGeom>
          <a:solidFill>
            <a:srgbClr val="FFB547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001768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A4ADC7"/>
                </a:solidFill>
                <a:latin typeface="Microsoft YaHei UI"/>
              </a:rPr>
              <a:t>EQ-A2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743891" y="5001768"/>
            <a:ext cx="1470877" cy="256032"/>
          </a:xfrm>
          <a:prstGeom prst="roundRect">
            <a:avLst>
              <a:gd name="adj" fmla="val 20000"/>
            </a:avLst>
          </a:prstGeom>
          <a:solidFill>
            <a:srgbClr val="00E5C7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233057" y="5001768"/>
            <a:ext cx="1470877" cy="256032"/>
          </a:xfrm>
          <a:prstGeom prst="roundRect">
            <a:avLst>
              <a:gd name="adj" fmla="val 20000"/>
            </a:avLst>
          </a:prstGeom>
          <a:solidFill>
            <a:srgbClr val="4F8D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722222" y="5001768"/>
            <a:ext cx="1843169" cy="256032"/>
          </a:xfrm>
          <a:prstGeom prst="roundRect">
            <a:avLst>
              <a:gd name="adj" fmla="val 20000"/>
            </a:avLst>
          </a:prstGeom>
          <a:solidFill>
            <a:srgbClr val="A78BF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529437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A4ADC7"/>
                </a:solidFill>
                <a:latin typeface="Microsoft YaHei UI"/>
              </a:rPr>
              <a:t>EQ-B1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371600" y="5294376"/>
            <a:ext cx="1098586" cy="256032"/>
          </a:xfrm>
          <a:prstGeom prst="roundRect">
            <a:avLst>
              <a:gd name="adj" fmla="val 20000"/>
            </a:avLst>
          </a:prstGeom>
          <a:solidFill>
            <a:srgbClr val="A78BF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488474" y="5294376"/>
            <a:ext cx="1098586" cy="256032"/>
          </a:xfrm>
          <a:prstGeom prst="roundRect">
            <a:avLst>
              <a:gd name="adj" fmla="val 20000"/>
            </a:avLst>
          </a:prstGeom>
          <a:solidFill>
            <a:srgbClr val="FFB547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605348" y="5294376"/>
            <a:ext cx="1843169" cy="256032"/>
          </a:xfrm>
          <a:prstGeom prst="roundRect">
            <a:avLst>
              <a:gd name="adj" fmla="val 20000"/>
            </a:avLst>
          </a:prstGeom>
          <a:solidFill>
            <a:srgbClr val="4F8D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466805" y="5294376"/>
            <a:ext cx="1098586" cy="256032"/>
          </a:xfrm>
          <a:prstGeom prst="roundRect">
            <a:avLst>
              <a:gd name="adj" fmla="val 20000"/>
            </a:avLst>
          </a:prstGeom>
          <a:solidFill>
            <a:srgbClr val="00E5C7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" y="5586984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A4ADC7"/>
                </a:solidFill>
                <a:latin typeface="Microsoft YaHei UI"/>
              </a:rPr>
              <a:t>EQ-B2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16182" y="5586984"/>
            <a:ext cx="1098586" cy="256032"/>
          </a:xfrm>
          <a:prstGeom prst="roundRect">
            <a:avLst>
              <a:gd name="adj" fmla="val 20000"/>
            </a:avLst>
          </a:prstGeom>
          <a:solidFill>
            <a:srgbClr val="FF6B9D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3233057" y="5586984"/>
            <a:ext cx="1470877" cy="256032"/>
          </a:xfrm>
          <a:prstGeom prst="roundRect">
            <a:avLst>
              <a:gd name="adj" fmla="val 20000"/>
            </a:avLst>
          </a:prstGeom>
          <a:solidFill>
            <a:srgbClr val="4F8D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722222" y="5586984"/>
            <a:ext cx="1470877" cy="256032"/>
          </a:xfrm>
          <a:prstGeom prst="roundRect">
            <a:avLst>
              <a:gd name="adj" fmla="val 20000"/>
            </a:avLst>
          </a:prstGeom>
          <a:solidFill>
            <a:srgbClr val="00E5C7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5800" y="587959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A4ADC7"/>
                </a:solidFill>
                <a:latin typeface="Microsoft YaHei UI"/>
              </a:rPr>
              <a:t>EQ-C1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743891" y="5879592"/>
            <a:ext cx="1098586" cy="256032"/>
          </a:xfrm>
          <a:prstGeom prst="roundRect">
            <a:avLst>
              <a:gd name="adj" fmla="val 20000"/>
            </a:avLst>
          </a:prstGeom>
          <a:solidFill>
            <a:srgbClr val="4F8D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2860765" y="5879592"/>
            <a:ext cx="1470877" cy="256032"/>
          </a:xfrm>
          <a:prstGeom prst="roundRect">
            <a:avLst>
              <a:gd name="adj" fmla="val 20000"/>
            </a:avLst>
          </a:prstGeom>
          <a:solidFill>
            <a:srgbClr val="A78BF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349931" y="5879592"/>
            <a:ext cx="1470877" cy="256032"/>
          </a:xfrm>
          <a:prstGeom prst="roundRect">
            <a:avLst>
              <a:gd name="adj" fmla="val 20000"/>
            </a:avLst>
          </a:prstGeom>
          <a:solidFill>
            <a:srgbClr val="FFB547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349931" y="4663440"/>
            <a:ext cx="13716" cy="169164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95651" y="4544568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FB547"/>
                </a:solidFill>
                <a:latin typeface="Microsoft YaHei UI"/>
              </a:rPr>
              <a:t>瓶颈 8h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040880" y="3931920"/>
            <a:ext cx="4663440" cy="2468880"/>
          </a:xfrm>
          <a:prstGeom prst="roundRect">
            <a:avLst>
              <a:gd name="adj" fmla="val 5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23760" y="406908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F8DFF"/>
                </a:solidFill>
                <a:latin typeface="Microsoft YaHei UI"/>
              </a:rPr>
              <a:t>规则引擎 vs 人工排产 · 对比</a:t>
            </a:r>
          </a:p>
        </p:txBody>
      </p:sp>
      <p:graphicFrame>
        <p:nvGraphicFramePr>
          <p:cNvPr id="63" name="Chart 62"/>
          <p:cNvGraphicFramePr>
            <a:graphicFrameLocks noGrp="1"/>
          </p:cNvGraphicFramePr>
          <p:nvPr/>
        </p:nvGraphicFramePr>
        <p:xfrm>
          <a:off x="7178040" y="4343400"/>
          <a:ext cx="4434840" cy="2011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4F8D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5486400" cy="5486400"/>
          </a:xfrm>
          <a:prstGeom prst="ellipse">
            <a:avLst/>
          </a:prstGeom>
          <a:solidFill>
            <a:srgbClr val="00E5C7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256032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4F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11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4ADC7"/>
                </a:solidFill>
                <a:latin typeface="Microsoft YaHei UI"/>
              </a:rPr>
              <a:t>AIMes · Industrial AI 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011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494"/>
                </a:solidFill>
                <a:latin typeface="Microsoft YaHei UI"/>
              </a:rPr>
              <a:t>多目标优化    ·    06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494"/>
                </a:solidFill>
                <a:latin typeface="Microsoft YaHei UI"/>
              </a:rPr>
              <a:t>AIMes V1 · 智能制造执行系统 · 宣传画册 · 2026.05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4922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494"/>
                </a:solidFill>
                <a:latin typeface="Microsoft YaHei UI"/>
              </a:rPr>
              <a:t>v0.1.0 · Apache 2.0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12280"/>
            <a:ext cx="5225012" cy="45720"/>
          </a:xfrm>
          <a:prstGeom prst="rect">
            <a:avLst/>
          </a:prstGeom>
          <a:solidFill>
            <a:srgbClr val="00E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841248"/>
            <a:ext cx="274320" cy="18288"/>
          </a:xfrm>
          <a:prstGeom prst="rect">
            <a:avLst/>
          </a:prstGeom>
          <a:solidFill>
            <a:srgbClr val="00E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777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E5C7"/>
                </a:solidFill>
                <a:latin typeface="Microsoft YaHei UI"/>
              </a:rPr>
              <a:t>OPTIMIZATION · 多目标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1430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E8EBF5"/>
                </a:solidFill>
                <a:latin typeface="Microsoft YaHei UI"/>
              </a:rPr>
              <a:t>四个目标函数 · 一个均衡模式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783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4ADC7"/>
                </a:solidFill>
                <a:latin typeface="Microsoft YaHei UI"/>
              </a:rPr>
              <a:t>交期、利用率、换型、平衡四目标，可独立运行，可字典序组合，工厂可按场景切换。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468880"/>
            <a:ext cx="6583680" cy="868680"/>
          </a:xfrm>
          <a:prstGeom prst="roundRect">
            <a:avLst>
              <a:gd name="adj" fmla="val 6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670048"/>
            <a:ext cx="1280160" cy="457200"/>
          </a:xfrm>
          <a:prstGeom prst="roundRect">
            <a:avLst>
              <a:gd name="adj" fmla="val 18000"/>
            </a:avLst>
          </a:prstGeom>
          <a:solidFill>
            <a:srgbClr val="1A2142"/>
          </a:solidFill>
          <a:ln w="9525">
            <a:solidFill>
              <a:srgbClr val="FF6B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670048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6B9D"/>
                </a:solidFill>
                <a:latin typeface="JetBrains Mono"/>
              </a:rPr>
              <a:t>DueDate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257860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EBF5"/>
                </a:solidFill>
                <a:latin typeface="Microsoft YaHei UI"/>
              </a:rPr>
              <a:t>交期优先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29260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4ADC7"/>
                </a:solidFill>
                <a:latin typeface="Microsoft YaHei UI"/>
              </a:rPr>
              <a:t>最小化逾期时间加权和，适合订单交付压力大场景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40680" y="2761488"/>
            <a:ext cx="1554480" cy="292608"/>
          </a:xfrm>
          <a:prstGeom prst="roundRect">
            <a:avLst>
              <a:gd name="adj" fmla="val 20000"/>
            </a:avLst>
          </a:prstGeom>
          <a:solidFill>
            <a:srgbClr val="0A0E27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2761488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B7494"/>
                </a:solidFill>
                <a:latin typeface="JetBrains Mono"/>
              </a:rPr>
              <a:t>min Σ max(0, End−Due)·W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429000"/>
            <a:ext cx="6583680" cy="868680"/>
          </a:xfrm>
          <a:prstGeom prst="roundRect">
            <a:avLst>
              <a:gd name="adj" fmla="val 6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3630168"/>
            <a:ext cx="1280160" cy="457200"/>
          </a:xfrm>
          <a:prstGeom prst="roundRect">
            <a:avLst>
              <a:gd name="adj" fmla="val 18000"/>
            </a:avLst>
          </a:prstGeom>
          <a:solidFill>
            <a:srgbClr val="1A2142"/>
          </a:solidFill>
          <a:ln w="9525">
            <a:solidFill>
              <a:srgbClr val="00E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630168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0E5C7"/>
                </a:solidFill>
                <a:latin typeface="JetBrains Mono"/>
              </a:rPr>
              <a:t>Utilization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353872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EBF5"/>
                </a:solidFill>
                <a:latin typeface="Microsoft YaHei UI"/>
              </a:rPr>
              <a:t>利用率优先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38862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4ADC7"/>
                </a:solidFill>
                <a:latin typeface="Microsoft YaHei UI"/>
              </a:rPr>
              <a:t>最大化瓶颈设备繁忙占比，适合产能受限场景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40680" y="3721608"/>
            <a:ext cx="1554480" cy="292608"/>
          </a:xfrm>
          <a:prstGeom prst="roundRect">
            <a:avLst>
              <a:gd name="adj" fmla="val 20000"/>
            </a:avLst>
          </a:prstGeom>
          <a:solidFill>
            <a:srgbClr val="0A0E27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40680" y="3721608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B7494"/>
                </a:solidFill>
                <a:latin typeface="JetBrains Mono"/>
              </a:rPr>
              <a:t>max Σ Busy/Total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389120"/>
            <a:ext cx="6583680" cy="868680"/>
          </a:xfrm>
          <a:prstGeom prst="roundRect">
            <a:avLst>
              <a:gd name="adj" fmla="val 6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" y="4590288"/>
            <a:ext cx="1280160" cy="457200"/>
          </a:xfrm>
          <a:prstGeom prst="roundRect">
            <a:avLst>
              <a:gd name="adj" fmla="val 18000"/>
            </a:avLst>
          </a:prstGeom>
          <a:solidFill>
            <a:srgbClr val="1A2142"/>
          </a:solidFill>
          <a:ln w="9525">
            <a:solidFill>
              <a:srgbClr val="FFB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590288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B547"/>
                </a:solidFill>
                <a:latin typeface="JetBrains Mono"/>
              </a:rPr>
              <a:t>Changeover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449884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EBF5"/>
                </a:solidFill>
                <a:latin typeface="Microsoft YaHei UI"/>
              </a:rPr>
              <a:t>换型成本最小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8463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4ADC7"/>
                </a:solidFill>
                <a:latin typeface="Microsoft YaHei UI"/>
              </a:rPr>
              <a:t>最小化产品换型时间总和，适合多品种小批量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40680" y="4681728"/>
            <a:ext cx="1554480" cy="292608"/>
          </a:xfrm>
          <a:prstGeom prst="roundRect">
            <a:avLst>
              <a:gd name="adj" fmla="val 20000"/>
            </a:avLst>
          </a:prstGeom>
          <a:solidFill>
            <a:srgbClr val="0A0E27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40680" y="4681728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B7494"/>
                </a:solidFill>
                <a:latin typeface="JetBrains Mono"/>
              </a:rPr>
              <a:t>min Σ Changeover(p→q)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349240"/>
            <a:ext cx="6583680" cy="868680"/>
          </a:xfrm>
          <a:prstGeom prst="roundRect">
            <a:avLst>
              <a:gd name="adj" fmla="val 6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0080" y="5550408"/>
            <a:ext cx="1280160" cy="457200"/>
          </a:xfrm>
          <a:prstGeom prst="roundRect">
            <a:avLst>
              <a:gd name="adj" fmla="val 18000"/>
            </a:avLst>
          </a:prstGeom>
          <a:solidFill>
            <a:srgbClr val="1A2142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50408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A78BFA"/>
                </a:solidFill>
                <a:latin typeface="JetBrains Mono"/>
              </a:rPr>
              <a:t>Balanced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545896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EBF5"/>
                </a:solidFill>
                <a:latin typeface="Microsoft YaHei UI"/>
              </a:rPr>
              <a:t>均衡模式 · 默认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58064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4ADC7"/>
                </a:solidFill>
                <a:latin typeface="Microsoft YaHei UI"/>
              </a:rPr>
              <a:t>字典序：先满足交期 ≥ 95%，再优化利用率，再压缩换型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40680" y="5641848"/>
            <a:ext cx="1554480" cy="292608"/>
          </a:xfrm>
          <a:prstGeom prst="roundRect">
            <a:avLst>
              <a:gd name="adj" fmla="val 20000"/>
            </a:avLst>
          </a:prstGeom>
          <a:solidFill>
            <a:srgbClr val="0A0E27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40680" y="5641848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B7494"/>
                </a:solidFill>
                <a:latin typeface="JetBrains Mono"/>
              </a:rPr>
              <a:t>Lex: Due → Util → Co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269480" y="2468880"/>
            <a:ext cx="4434840" cy="3840480"/>
          </a:xfrm>
          <a:prstGeom prst="roundRect">
            <a:avLst>
              <a:gd name="adj" fmla="val 5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06640" y="26060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B547"/>
                </a:solidFill>
                <a:latin typeface="Microsoft YaHei UI"/>
              </a:rPr>
              <a:t>四目标权衡 · 雷达</a:t>
            </a:r>
          </a:p>
        </p:txBody>
      </p:sp>
      <p:graphicFrame>
        <p:nvGraphicFramePr>
          <p:cNvPr id="45" name="Chart 44"/>
          <p:cNvGraphicFramePr>
            <a:graphicFrameLocks noGrp="1"/>
          </p:cNvGraphicFramePr>
          <p:nvPr/>
        </p:nvGraphicFramePr>
        <p:xfrm>
          <a:off x="7315200" y="2834640"/>
          <a:ext cx="43434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4F8D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5486400" cy="5486400"/>
          </a:xfrm>
          <a:prstGeom prst="ellipse">
            <a:avLst/>
          </a:prstGeom>
          <a:solidFill>
            <a:srgbClr val="00E5C7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256032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4F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11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4ADC7"/>
                </a:solidFill>
                <a:latin typeface="Microsoft YaHei UI"/>
              </a:rPr>
              <a:t>AIMes · Industrial AI 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011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494"/>
                </a:solidFill>
                <a:latin typeface="Microsoft YaHei UI"/>
              </a:rPr>
              <a:t>业务模块    ·    07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494"/>
                </a:solidFill>
                <a:latin typeface="Microsoft YaHei UI"/>
              </a:rPr>
              <a:t>AIMes V1 · 智能制造执行系统 · 宣传画册 · 2026.05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4922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494"/>
                </a:solidFill>
                <a:latin typeface="Microsoft YaHei UI"/>
              </a:rPr>
              <a:t>v0.1.0 · Apache 2.0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12280"/>
            <a:ext cx="6095847" cy="45720"/>
          </a:xfrm>
          <a:prstGeom prst="rect">
            <a:avLst/>
          </a:prstGeom>
          <a:solidFill>
            <a:srgbClr val="00E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841248"/>
            <a:ext cx="274320" cy="18288"/>
          </a:xfrm>
          <a:prstGeom prst="rect">
            <a:avLst/>
          </a:prstGeom>
          <a:solidFill>
            <a:srgbClr val="00E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777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E5C7"/>
                </a:solidFill>
                <a:latin typeface="Microsoft YaHei UI"/>
              </a:rPr>
              <a:t>MODULES · 业务版图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1430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E8EBF5"/>
                </a:solidFill>
                <a:latin typeface="Microsoft YaHei UI"/>
              </a:rPr>
              <a:t>13+ 业务模块 · 全模块演示降级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783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4ADC7"/>
                </a:solidFill>
                <a:latin typeface="Microsoft YaHei UI"/>
              </a:rPr>
              <a:t>从排程到知识库，所有看板内置「后端不可用 → 演示数据」分支，零数据也能跑出全貌。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377440"/>
            <a:ext cx="3703320" cy="1298448"/>
          </a:xfrm>
          <a:prstGeom prst="roundRect">
            <a:avLst>
              <a:gd name="adj" fmla="val 6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256032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1A2142"/>
          </a:solidFill>
          <a:ln w="9525">
            <a:solidFill>
              <a:srgbClr val="4F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578608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4F8DFF"/>
                </a:solidFill>
                <a:latin typeface="Microsoft YaHei UI"/>
              </a:rPr>
              <a:t>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2560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EBF5"/>
                </a:solidFill>
                <a:latin typeface="Microsoft YaHei UI"/>
              </a:rPr>
              <a:t>AI 排程引擎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127248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494"/>
                </a:solidFill>
                <a:latin typeface="Microsoft YaHei UI"/>
              </a:rPr>
              <a:t>3 段式 · 规则 + 约束验证 + LLM 精调，4 个目标函数任选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5112" y="2377440"/>
            <a:ext cx="3703320" cy="1298448"/>
          </a:xfrm>
          <a:prstGeom prst="roundRect">
            <a:avLst>
              <a:gd name="adj" fmla="val 6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07992" y="256032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1A2142"/>
          </a:solidFill>
          <a:ln w="9525">
            <a:solidFill>
              <a:srgbClr val="00E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7992" y="2578608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0E5C7"/>
                </a:solidFill>
                <a:latin typeface="Microsoft YaHei UI"/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38344" y="2560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EBF5"/>
                </a:solidFill>
                <a:latin typeface="Microsoft YaHei UI"/>
              </a:rPr>
              <a:t>质量 SPC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7992" y="3127248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494"/>
                </a:solidFill>
                <a:latin typeface="Microsoft YaHei UI"/>
              </a:rPr>
              <a:t>SPC 图 + 运行规则告警 + 质检记录与不良品分级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47304" y="2377440"/>
            <a:ext cx="3703320" cy="1298448"/>
          </a:xfrm>
          <a:prstGeom prst="roundRect">
            <a:avLst>
              <a:gd name="adj" fmla="val 6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330184" y="256032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1A2142"/>
          </a:solidFill>
          <a:ln w="9525">
            <a:solidFill>
              <a:srgbClr val="FFB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4" y="2578608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FFB547"/>
                </a:solidFill>
                <a:latin typeface="Microsoft YaHei UI"/>
              </a:rPr>
              <a:t>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0536" y="2560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EBF5"/>
                </a:solidFill>
                <a:latin typeface="Microsoft YaHei UI"/>
              </a:rPr>
              <a:t>设备管理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0184" y="3127248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494"/>
                </a:solidFill>
                <a:latin typeface="Microsoft YaHei UI"/>
              </a:rPr>
              <a:t>状态跟踪 + 维护记录 + 设备健康分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749039"/>
            <a:ext cx="3703320" cy="1298448"/>
          </a:xfrm>
          <a:prstGeom prst="roundRect">
            <a:avLst>
              <a:gd name="adj" fmla="val 6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85800" y="3931919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1A2142"/>
          </a:solidFill>
          <a:ln w="9525">
            <a:solidFill>
              <a:srgbClr val="FF6B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950207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FF6B9D"/>
                </a:solidFill>
                <a:latin typeface="Microsoft YaHei UI"/>
              </a:rPr>
              <a:t>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3931919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EBF5"/>
                </a:solidFill>
                <a:latin typeface="Microsoft YaHei UI"/>
              </a:rPr>
              <a:t>风险预警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498847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494"/>
                </a:solidFill>
                <a:latin typeface="Microsoft YaHei UI"/>
              </a:rPr>
              <a:t>工单延期 / 设备故障 / 物料齐套 / 产能瓶颈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25112" y="3749039"/>
            <a:ext cx="3703320" cy="1298448"/>
          </a:xfrm>
          <a:prstGeom prst="roundRect">
            <a:avLst>
              <a:gd name="adj" fmla="val 6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507992" y="3931919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1A2142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07992" y="3950207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A78BFA"/>
                </a:solidFill>
                <a:latin typeface="Microsoft YaHei UI"/>
              </a:rPr>
              <a:t>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38344" y="3931919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EBF5"/>
                </a:solidFill>
                <a:latin typeface="Microsoft YaHei UI"/>
              </a:rPr>
              <a:t>BOM / 工艺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07992" y="4498847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494"/>
                </a:solidFill>
                <a:latin typeface="Microsoft YaHei UI"/>
              </a:rPr>
              <a:t>多级 BOM + 工艺路线 + 变更管理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47304" y="3749039"/>
            <a:ext cx="3703320" cy="1298448"/>
          </a:xfrm>
          <a:prstGeom prst="roundRect">
            <a:avLst>
              <a:gd name="adj" fmla="val 6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330184" y="3931919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1A2142"/>
          </a:solidFill>
          <a:ln w="9525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30184" y="3950207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4ADE80"/>
                </a:solidFill>
                <a:latin typeface="Microsoft YaHei UI"/>
              </a:rPr>
              <a:t>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0536" y="3931919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EBF5"/>
                </a:solidFill>
                <a:latin typeface="Microsoft YaHei UI"/>
              </a:rPr>
              <a:t>知识库 RAG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0184" y="4498847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494"/>
                </a:solidFill>
                <a:latin typeface="Microsoft YaHei UI"/>
              </a:rPr>
              <a:t>文档上传 + 关键字检索 + 演示 RAG 问答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5120640"/>
            <a:ext cx="3703320" cy="1298448"/>
          </a:xfrm>
          <a:prstGeom prst="roundRect">
            <a:avLst>
              <a:gd name="adj" fmla="val 6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85800" y="530352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1A2142"/>
          </a:solidFill>
          <a:ln w="9525">
            <a:solidFill>
              <a:srgbClr val="4F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5321808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4F8DFF"/>
                </a:solidFill>
                <a:latin typeface="Microsoft YaHei UI"/>
              </a:rPr>
              <a:t>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16152" y="5303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EBF5"/>
                </a:solidFill>
                <a:latin typeface="Microsoft YaHei UI"/>
              </a:rPr>
              <a:t>异常 / 库存 / 采购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5870448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494"/>
                </a:solidFill>
                <a:latin typeface="Microsoft YaHei UI"/>
              </a:rPr>
              <a:t>上报分级响应 · 库存出入库 · 采购订单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25112" y="5120640"/>
            <a:ext cx="3703320" cy="1298448"/>
          </a:xfrm>
          <a:prstGeom prst="roundRect">
            <a:avLst>
              <a:gd name="adj" fmla="val 6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507992" y="530352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1A2142"/>
          </a:solidFill>
          <a:ln w="9525">
            <a:solidFill>
              <a:srgbClr val="00E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07992" y="5321808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0E5C7"/>
                </a:solidFill>
                <a:latin typeface="Microsoft YaHei UI"/>
              </a:rPr>
              <a:t>🧾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38344" y="5303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EBF5"/>
                </a:solidFill>
                <a:latin typeface="Microsoft YaHei UI"/>
              </a:rPr>
              <a:t>审计日志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07992" y="5870448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494"/>
                </a:solidFill>
                <a:latin typeface="Microsoft YaHei UI"/>
              </a:rPr>
              <a:t>操作追踪 + JSON Diff + IP / UA 记录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147304" y="5120640"/>
            <a:ext cx="3703320" cy="1298448"/>
          </a:xfrm>
          <a:prstGeom prst="roundRect">
            <a:avLst>
              <a:gd name="adj" fmla="val 6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330184" y="530352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1A2142"/>
          </a:solidFill>
          <a:ln w="9525">
            <a:solidFill>
              <a:srgbClr val="FFB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30184" y="5321808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FFB547"/>
                </a:solidFill>
                <a:latin typeface="Microsoft YaHei UI"/>
              </a:rPr>
              <a:t>🏷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60536" y="5303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EBF5"/>
                </a:solidFill>
                <a:latin typeface="Microsoft YaHei UI"/>
              </a:rPr>
              <a:t>条码打印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30184" y="5870448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494"/>
                </a:solidFill>
                <a:latin typeface="Microsoft YaHei UI"/>
              </a:rPr>
              <a:t>QR 码批量打印 + 筛选搜索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4F8D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5486400" cy="5486400"/>
          </a:xfrm>
          <a:prstGeom prst="ellipse">
            <a:avLst/>
          </a:prstGeom>
          <a:solidFill>
            <a:srgbClr val="00E5C7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256032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4F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11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4ADC7"/>
                </a:solidFill>
                <a:latin typeface="Microsoft YaHei UI"/>
              </a:rPr>
              <a:t>AIMes · Industrial AI 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011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494"/>
                </a:solidFill>
                <a:latin typeface="Microsoft YaHei UI"/>
              </a:rPr>
              <a:t>技术架构    ·    08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494"/>
                </a:solidFill>
                <a:latin typeface="Microsoft YaHei UI"/>
              </a:rPr>
              <a:t>AIMes V1 · 智能制造执行系统 · 宣传画册 · 2026.05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4922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494"/>
                </a:solidFill>
                <a:latin typeface="Microsoft YaHei UI"/>
              </a:rPr>
              <a:t>v0.1.0 · Apache 2.0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12280"/>
            <a:ext cx="6966682" cy="45720"/>
          </a:xfrm>
          <a:prstGeom prst="rect">
            <a:avLst/>
          </a:prstGeom>
          <a:solidFill>
            <a:srgbClr val="00E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841248"/>
            <a:ext cx="274320" cy="18288"/>
          </a:xfrm>
          <a:prstGeom prst="rect">
            <a:avLst/>
          </a:prstGeom>
          <a:solidFill>
            <a:srgbClr val="00E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777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E5C7"/>
                </a:solidFill>
                <a:latin typeface="Microsoft YaHei UI"/>
              </a:rPr>
              <a:t>ARCHITECTURE · 技术架构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1430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E8EBF5"/>
                </a:solidFill>
                <a:latin typeface="Microsoft YaHei UI"/>
              </a:rPr>
              <a:t>现代化技术栈 · .NET 10 + Vue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920240"/>
            <a:ext cx="7589520" cy="1051560"/>
          </a:xfrm>
          <a:prstGeom prst="roundRect">
            <a:avLst>
              <a:gd name="adj" fmla="val 5000"/>
            </a:avLst>
          </a:prstGeom>
          <a:solidFill>
            <a:srgbClr val="121836"/>
          </a:solidFill>
          <a:ln w="9525">
            <a:solidFill>
              <a:srgbClr val="4F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99339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B7494"/>
                </a:solidFill>
                <a:latin typeface="JetBrains Mono"/>
              </a:rPr>
              <a:t>PRESENTATION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304288"/>
            <a:ext cx="1760220" cy="548640"/>
          </a:xfrm>
          <a:prstGeom prst="roundRect">
            <a:avLst>
              <a:gd name="adj" fmla="val 15000"/>
            </a:avLst>
          </a:prstGeom>
          <a:solidFill>
            <a:srgbClr val="1A2142"/>
          </a:solidFill>
          <a:ln w="9525">
            <a:solidFill>
              <a:srgbClr val="4F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304288"/>
            <a:ext cx="17602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E8EBF5"/>
                </a:solidFill>
                <a:latin typeface="Microsoft YaHei UI"/>
              </a:rPr>
              <a:t>Vue 3 SPA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91740" y="2304288"/>
            <a:ext cx="1760220" cy="548640"/>
          </a:xfrm>
          <a:prstGeom prst="roundRect">
            <a:avLst>
              <a:gd name="adj" fmla="val 15000"/>
            </a:avLst>
          </a:prstGeom>
          <a:solidFill>
            <a:srgbClr val="1A2142"/>
          </a:solidFill>
          <a:ln w="9525">
            <a:solidFill>
              <a:srgbClr val="4F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91740" y="2304288"/>
            <a:ext cx="17602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E8EBF5"/>
                </a:solidFill>
                <a:latin typeface="Microsoft YaHei UI"/>
              </a:rPr>
              <a:t>dhtmlx-gantt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2304288"/>
            <a:ext cx="1760220" cy="548640"/>
          </a:xfrm>
          <a:prstGeom prst="roundRect">
            <a:avLst>
              <a:gd name="adj" fmla="val 15000"/>
            </a:avLst>
          </a:prstGeom>
          <a:solidFill>
            <a:srgbClr val="1A2142"/>
          </a:solidFill>
          <a:ln w="9525">
            <a:solidFill>
              <a:srgbClr val="4F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2304288"/>
            <a:ext cx="17602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E8EBF5"/>
                </a:solidFill>
                <a:latin typeface="Microsoft YaHei UI"/>
              </a:rPr>
              <a:t>SignalR Toast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5060" y="2304288"/>
            <a:ext cx="1760220" cy="548640"/>
          </a:xfrm>
          <a:prstGeom prst="roundRect">
            <a:avLst>
              <a:gd name="adj" fmla="val 15000"/>
            </a:avLst>
          </a:prstGeom>
          <a:solidFill>
            <a:srgbClr val="1A2142"/>
          </a:solidFill>
          <a:ln w="9525">
            <a:solidFill>
              <a:srgbClr val="4F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5060" y="2304288"/>
            <a:ext cx="17602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E8EBF5"/>
                </a:solidFill>
                <a:latin typeface="Microsoft YaHei UI"/>
              </a:rPr>
              <a:t>Vite + 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063240"/>
            <a:ext cx="7589520" cy="1051560"/>
          </a:xfrm>
          <a:prstGeom prst="roundRect">
            <a:avLst>
              <a:gd name="adj" fmla="val 5000"/>
            </a:avLst>
          </a:prstGeom>
          <a:solidFill>
            <a:srgbClr val="121836"/>
          </a:solidFill>
          <a:ln w="9525">
            <a:solidFill>
              <a:srgbClr val="00E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13639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B7494"/>
                </a:solidFill>
                <a:latin typeface="JetBrains Mono"/>
              </a:rPr>
              <a:t>API LAYER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447288"/>
            <a:ext cx="1760220" cy="548640"/>
          </a:xfrm>
          <a:prstGeom prst="roundRect">
            <a:avLst>
              <a:gd name="adj" fmla="val 15000"/>
            </a:avLst>
          </a:prstGeom>
          <a:solidFill>
            <a:srgbClr val="1A2142"/>
          </a:solidFill>
          <a:ln w="9525">
            <a:solidFill>
              <a:srgbClr val="00E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447288"/>
            <a:ext cx="17602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E8EBF5"/>
                </a:solidFill>
                <a:latin typeface="Microsoft YaHei UI"/>
              </a:rPr>
              <a:t>ASP.NET Core 极简 API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91740" y="3447288"/>
            <a:ext cx="1760220" cy="548640"/>
          </a:xfrm>
          <a:prstGeom prst="roundRect">
            <a:avLst>
              <a:gd name="adj" fmla="val 15000"/>
            </a:avLst>
          </a:prstGeom>
          <a:solidFill>
            <a:srgbClr val="1A2142"/>
          </a:solidFill>
          <a:ln w="9525">
            <a:solidFill>
              <a:srgbClr val="00E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91740" y="3447288"/>
            <a:ext cx="17602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E8EBF5"/>
                </a:solidFill>
                <a:latin typeface="Microsoft YaHei UI"/>
              </a:rPr>
              <a:t>JWT + 4 角色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3400" y="3447288"/>
            <a:ext cx="1760220" cy="548640"/>
          </a:xfrm>
          <a:prstGeom prst="roundRect">
            <a:avLst>
              <a:gd name="adj" fmla="val 15000"/>
            </a:avLst>
          </a:prstGeom>
          <a:solidFill>
            <a:srgbClr val="1A2142"/>
          </a:solidFill>
          <a:ln w="9525">
            <a:solidFill>
              <a:srgbClr val="00E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43400" y="3447288"/>
            <a:ext cx="17602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E8EBF5"/>
                </a:solidFill>
                <a:latin typeface="Microsoft YaHei UI"/>
              </a:rPr>
              <a:t>Rate Limit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5060" y="3447288"/>
            <a:ext cx="1760220" cy="548640"/>
          </a:xfrm>
          <a:prstGeom prst="roundRect">
            <a:avLst>
              <a:gd name="adj" fmla="val 15000"/>
            </a:avLst>
          </a:prstGeom>
          <a:solidFill>
            <a:srgbClr val="1A2142"/>
          </a:solidFill>
          <a:ln w="9525">
            <a:solidFill>
              <a:srgbClr val="00E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95060" y="3447288"/>
            <a:ext cx="17602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E8EBF5"/>
                </a:solidFill>
                <a:latin typeface="Microsoft YaHei UI"/>
              </a:rPr>
              <a:t>Swagger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4206240"/>
            <a:ext cx="7589520" cy="1051560"/>
          </a:xfrm>
          <a:prstGeom prst="roundRect">
            <a:avLst>
              <a:gd name="adj" fmla="val 5000"/>
            </a:avLst>
          </a:prstGeom>
          <a:solidFill>
            <a:srgbClr val="121836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27939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B7494"/>
                </a:solidFill>
                <a:latin typeface="JetBrains Mono"/>
              </a:rPr>
              <a:t>DOMAIN · MES.AI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590288"/>
            <a:ext cx="1760220" cy="548640"/>
          </a:xfrm>
          <a:prstGeom prst="roundRect">
            <a:avLst>
              <a:gd name="adj" fmla="val 15000"/>
            </a:avLst>
          </a:prstGeom>
          <a:solidFill>
            <a:srgbClr val="1A2142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590288"/>
            <a:ext cx="17602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E8EBF5"/>
                </a:solidFill>
                <a:latin typeface="Microsoft YaHei UI"/>
              </a:rPr>
              <a:t>SchedulingAgent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491740" y="4590288"/>
            <a:ext cx="1760220" cy="548640"/>
          </a:xfrm>
          <a:prstGeom prst="roundRect">
            <a:avLst>
              <a:gd name="adj" fmla="val 15000"/>
            </a:avLst>
          </a:prstGeom>
          <a:solidFill>
            <a:srgbClr val="1A2142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91740" y="4590288"/>
            <a:ext cx="17602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E8EBF5"/>
                </a:solidFill>
                <a:latin typeface="Microsoft YaHei UI"/>
              </a:rPr>
              <a:t>QualityAgent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43400" y="4590288"/>
            <a:ext cx="1760220" cy="548640"/>
          </a:xfrm>
          <a:prstGeom prst="roundRect">
            <a:avLst>
              <a:gd name="adj" fmla="val 15000"/>
            </a:avLst>
          </a:prstGeom>
          <a:solidFill>
            <a:srgbClr val="1A2142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43400" y="4590288"/>
            <a:ext cx="17602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E8EBF5"/>
                </a:solidFill>
                <a:latin typeface="Microsoft YaHei UI"/>
              </a:rPr>
              <a:t>KnowledgeAgent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5060" y="4590288"/>
            <a:ext cx="1760220" cy="548640"/>
          </a:xfrm>
          <a:prstGeom prst="roundRect">
            <a:avLst>
              <a:gd name="adj" fmla="val 15000"/>
            </a:avLst>
          </a:prstGeom>
          <a:solidFill>
            <a:srgbClr val="1A2142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95060" y="4590288"/>
            <a:ext cx="17602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E8EBF5"/>
                </a:solidFill>
                <a:latin typeface="Microsoft YaHei UI"/>
              </a:rPr>
              <a:t>DecisionTrace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5349240"/>
            <a:ext cx="7589520" cy="1051560"/>
          </a:xfrm>
          <a:prstGeom prst="roundRect">
            <a:avLst>
              <a:gd name="adj" fmla="val 5000"/>
            </a:avLst>
          </a:prstGeom>
          <a:solidFill>
            <a:srgbClr val="121836"/>
          </a:solidFill>
          <a:ln w="9525">
            <a:solidFill>
              <a:srgbClr val="FFB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42239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B7494"/>
                </a:solidFill>
                <a:latin typeface="JetBrains Mono"/>
              </a:rPr>
              <a:t>INFRASTRUCTURE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5733288"/>
            <a:ext cx="1389888" cy="548640"/>
          </a:xfrm>
          <a:prstGeom prst="roundRect">
            <a:avLst>
              <a:gd name="adj" fmla="val 15000"/>
            </a:avLst>
          </a:prstGeom>
          <a:solidFill>
            <a:srgbClr val="1A2142"/>
          </a:solidFill>
          <a:ln w="9525">
            <a:solidFill>
              <a:srgbClr val="FFB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5733288"/>
            <a:ext cx="138988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E8EBF5"/>
                </a:solidFill>
                <a:latin typeface="Microsoft YaHei UI"/>
              </a:rPr>
              <a:t>PostgreSQL 16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121408" y="5733288"/>
            <a:ext cx="1389888" cy="548640"/>
          </a:xfrm>
          <a:prstGeom prst="roundRect">
            <a:avLst>
              <a:gd name="adj" fmla="val 15000"/>
            </a:avLst>
          </a:prstGeom>
          <a:solidFill>
            <a:srgbClr val="1A2142"/>
          </a:solidFill>
          <a:ln w="9525">
            <a:solidFill>
              <a:srgbClr val="FFB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21408" y="5733288"/>
            <a:ext cx="138988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E8EBF5"/>
                </a:solidFill>
                <a:latin typeface="Microsoft YaHei UI"/>
              </a:rPr>
              <a:t>Redis 7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02736" y="5733288"/>
            <a:ext cx="1389888" cy="548640"/>
          </a:xfrm>
          <a:prstGeom prst="roundRect">
            <a:avLst>
              <a:gd name="adj" fmla="val 15000"/>
            </a:avLst>
          </a:prstGeom>
          <a:solidFill>
            <a:srgbClr val="1A2142"/>
          </a:solidFill>
          <a:ln w="9525">
            <a:solidFill>
              <a:srgbClr val="FFB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02736" y="5733288"/>
            <a:ext cx="138988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E8EBF5"/>
                </a:solidFill>
                <a:latin typeface="Microsoft YaHei UI"/>
              </a:rPr>
              <a:t>RabbitMQ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84064" y="5733288"/>
            <a:ext cx="1389888" cy="548640"/>
          </a:xfrm>
          <a:prstGeom prst="roundRect">
            <a:avLst>
              <a:gd name="adj" fmla="val 15000"/>
            </a:avLst>
          </a:prstGeom>
          <a:solidFill>
            <a:srgbClr val="1A2142"/>
          </a:solidFill>
          <a:ln w="9525">
            <a:solidFill>
              <a:srgbClr val="FFB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84064" y="5733288"/>
            <a:ext cx="138988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E8EBF5"/>
                </a:solidFill>
                <a:latin typeface="Microsoft YaHei UI"/>
              </a:rPr>
              <a:t>Qdrant 1.13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65392" y="5733288"/>
            <a:ext cx="1389888" cy="548640"/>
          </a:xfrm>
          <a:prstGeom prst="roundRect">
            <a:avLst>
              <a:gd name="adj" fmla="val 15000"/>
            </a:avLst>
          </a:prstGeom>
          <a:solidFill>
            <a:srgbClr val="1A2142"/>
          </a:solidFill>
          <a:ln w="9525">
            <a:solidFill>
              <a:srgbClr val="FFB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65392" y="5733288"/>
            <a:ext cx="138988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E8EBF5"/>
                </a:solidFill>
                <a:latin typeface="Microsoft YaHei UI"/>
              </a:rPr>
              <a:t>Serilog+OTLP</a:t>
            </a:r>
          </a:p>
        </p:txBody>
      </p:sp>
      <p:sp>
        <p:nvSpPr>
          <p:cNvPr id="56" name="Down Arrow 55"/>
          <p:cNvSpPr/>
          <p:nvPr/>
        </p:nvSpPr>
        <p:spPr>
          <a:xfrm>
            <a:off x="4224528" y="2953512"/>
            <a:ext cx="146304" cy="128016"/>
          </a:xfrm>
          <a:prstGeom prst="downArrow">
            <a:avLst/>
          </a:prstGeom>
          <a:solidFill>
            <a:srgbClr val="00E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Down Arrow 56"/>
          <p:cNvSpPr/>
          <p:nvPr/>
        </p:nvSpPr>
        <p:spPr>
          <a:xfrm>
            <a:off x="4224528" y="4096512"/>
            <a:ext cx="146304" cy="128016"/>
          </a:xfrm>
          <a:prstGeom prst="downArrow">
            <a:avLst/>
          </a:prstGeom>
          <a:solidFill>
            <a:srgbClr val="00E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Down Arrow 57"/>
          <p:cNvSpPr/>
          <p:nvPr/>
        </p:nvSpPr>
        <p:spPr>
          <a:xfrm>
            <a:off x="4224528" y="5239512"/>
            <a:ext cx="146304" cy="128016"/>
          </a:xfrm>
          <a:prstGeom prst="downArrow">
            <a:avLst/>
          </a:prstGeom>
          <a:solidFill>
            <a:srgbClr val="00E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275320" y="1920240"/>
            <a:ext cx="3429000" cy="1051560"/>
          </a:xfrm>
          <a:prstGeom prst="roundRect">
            <a:avLst>
              <a:gd name="adj" fmla="val 5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58200" y="2029968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E5C7"/>
                </a:solidFill>
                <a:latin typeface="Microsoft YaHei UI"/>
              </a:rPr>
              <a:t>观测 &amp; 测试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58200" y="228600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4ADC7"/>
                </a:solidFill>
                <a:latin typeface="Microsoft YaHei UI"/>
              </a:rPr>
              <a:t>Serilog · OTLP
xUnit + FluentAssertions
Playwright E2E · BenchmarkDotNet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275320" y="3017520"/>
            <a:ext cx="3429000" cy="1051560"/>
          </a:xfrm>
          <a:prstGeom prst="roundRect">
            <a:avLst>
              <a:gd name="adj" fmla="val 5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58200" y="3127248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E5C7"/>
                </a:solidFill>
                <a:latin typeface="Microsoft YaHei UI"/>
              </a:rPr>
              <a:t>AI 框架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58200" y="338328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4ADC7"/>
                </a:solidFill>
                <a:latin typeface="Microsoft YaHei UI"/>
              </a:rPr>
              <a:t>Microsoft.SemanticKernel
Microsoft.ML.OnnxRuntime
LLM Provider 适配 (Ollama)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275320" y="4114800"/>
            <a:ext cx="3429000" cy="1051560"/>
          </a:xfrm>
          <a:prstGeom prst="roundRect">
            <a:avLst>
              <a:gd name="adj" fmla="val 5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58200" y="4224528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E5C7"/>
                </a:solidFill>
                <a:latin typeface="Microsoft YaHei UI"/>
              </a:rPr>
              <a:t>硬性规则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58200" y="448056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4ADC7"/>
                </a:solidFill>
                <a:latin typeface="Microsoft YaHei UI"/>
              </a:rPr>
              <a:t>可空引用类型 · 警告即错误
极简 API + TypedResults
构造函数注入 · 无静态状态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275320" y="5212080"/>
            <a:ext cx="3429000" cy="1051560"/>
          </a:xfrm>
          <a:prstGeom prst="roundRect">
            <a:avLst>
              <a:gd name="adj" fmla="val 5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58200" y="5321808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E5C7"/>
                </a:solidFill>
                <a:latin typeface="Microsoft YaHei UI"/>
              </a:rPr>
              <a:t>CI / 部署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58200" y="557784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4ADC7"/>
                </a:solidFill>
                <a:latin typeface="Microsoft YaHei UI"/>
              </a:rPr>
              <a:t>GitHub Actions · 5 容器一键拉起
dotnet format 阻断
分析器开启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4F8D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5486400" cy="5486400"/>
          </a:xfrm>
          <a:prstGeom prst="ellipse">
            <a:avLst/>
          </a:prstGeom>
          <a:solidFill>
            <a:srgbClr val="00E5C7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256032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4F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11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4ADC7"/>
                </a:solidFill>
                <a:latin typeface="Microsoft YaHei UI"/>
              </a:rPr>
              <a:t>AIMes · Industrial AI 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011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494"/>
                </a:solidFill>
                <a:latin typeface="Microsoft YaHei UI"/>
              </a:rPr>
              <a:t>决策可追溯    ·    09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494"/>
                </a:solidFill>
                <a:latin typeface="Microsoft YaHei UI"/>
              </a:rPr>
              <a:t>AIMes V1 · 智能制造执行系统 · 宣传画册 · 2026.05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4922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494"/>
                </a:solidFill>
                <a:latin typeface="Microsoft YaHei UI"/>
              </a:rPr>
              <a:t>v0.1.0 · Apache 2.0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12280"/>
            <a:ext cx="7837518" cy="45720"/>
          </a:xfrm>
          <a:prstGeom prst="rect">
            <a:avLst/>
          </a:prstGeom>
          <a:solidFill>
            <a:srgbClr val="00E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841248"/>
            <a:ext cx="274320" cy="18288"/>
          </a:xfrm>
          <a:prstGeom prst="rect">
            <a:avLst/>
          </a:prstGeom>
          <a:solidFill>
            <a:srgbClr val="00E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777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E5C7"/>
                </a:solidFill>
                <a:latin typeface="Microsoft YaHei UI"/>
              </a:rPr>
              <a:t>EXPLAINABILITY · 决策可追溯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1430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E8EBF5"/>
                </a:solidFill>
                <a:latin typeface="Microsoft YaHei UI"/>
              </a:rPr>
              <a:t>每个 AI 决策 · 都有完整指纹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783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4ADC7"/>
                </a:solidFill>
                <a:latin typeface="Microsoft YaHei UI"/>
              </a:rPr>
              <a:t>从模型版本到上下文哈希，从输入摘要到业务键，AiDecisionTrace 一行不漏，事后随时回溯。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377440"/>
            <a:ext cx="5852160" cy="4023360"/>
          </a:xfrm>
          <a:prstGeom prst="roundRect">
            <a:avLst>
              <a:gd name="adj" fmla="val 5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2542032"/>
            <a:ext cx="1133856" cy="292608"/>
          </a:xfrm>
          <a:prstGeom prst="roundRect">
            <a:avLst>
              <a:gd name="adj" fmla="val 50000"/>
            </a:avLst>
          </a:prstGeom>
          <a:solidFill>
            <a:srgbClr val="1A2142"/>
          </a:solidFill>
          <a:ln w="9525">
            <a:solidFill>
              <a:srgbClr val="00E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578608"/>
            <a:ext cx="11338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0E5C7"/>
                </a:solidFill>
                <a:latin typeface="Microsoft YaHei UI"/>
              </a:rPr>
              <a:t>Trace 示例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6060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494"/>
                </a:solidFill>
                <a:latin typeface="JetBrains Mono"/>
              </a:rPr>
              <a:t>trace_id · 0x7f3a2c91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0175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00E5C7"/>
                </a:solidFill>
                <a:latin typeface="JetBrains Mono"/>
              </a:rPr>
              <a:t>Model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65960" y="3017520"/>
            <a:ext cx="4297680" cy="365760"/>
          </a:xfrm>
          <a:prstGeom prst="roundRect">
            <a:avLst>
              <a:gd name="adj" fmla="val 15000"/>
            </a:avLst>
          </a:prstGeom>
          <a:solidFill>
            <a:srgbClr val="0A0E27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57400" y="30175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E8EBF5"/>
                </a:solidFill>
                <a:latin typeface="JetBrains Mono"/>
              </a:rPr>
              <a:t>deterministic-v1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4747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00E5C7"/>
                </a:solidFill>
                <a:latin typeface="JetBrains Mono"/>
              </a:rPr>
              <a:t>PromptHash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65960" y="3474720"/>
            <a:ext cx="4297680" cy="365760"/>
          </a:xfrm>
          <a:prstGeom prst="roundRect">
            <a:avLst>
              <a:gd name="adj" fmla="val 15000"/>
            </a:avLst>
          </a:prstGeom>
          <a:solidFill>
            <a:srgbClr val="0A0E27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57400" y="34747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B547"/>
                </a:solidFill>
                <a:latin typeface="JetBrains Mono"/>
              </a:rPr>
              <a:t>sha256:9c2f...e81b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9319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00E5C7"/>
                </a:solidFill>
                <a:latin typeface="JetBrains Mono"/>
              </a:rPr>
              <a:t>ContextHash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65960" y="3931920"/>
            <a:ext cx="4297680" cy="365760"/>
          </a:xfrm>
          <a:prstGeom prst="roundRect">
            <a:avLst>
              <a:gd name="adj" fmla="val 15000"/>
            </a:avLst>
          </a:prstGeom>
          <a:solidFill>
            <a:srgbClr val="0A0E27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57400" y="39319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E8EBF5"/>
                </a:solidFill>
                <a:latin typeface="JetBrains Mono"/>
              </a:rPr>
              <a:t>sha256:4a17...d3f0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3891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00E5C7"/>
                </a:solidFill>
                <a:latin typeface="JetBrains Mono"/>
              </a:rPr>
              <a:t>InputSummary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65960" y="4389120"/>
            <a:ext cx="4297680" cy="365760"/>
          </a:xfrm>
          <a:prstGeom prst="roundRect">
            <a:avLst>
              <a:gd name="adj" fmla="val 15000"/>
            </a:avLst>
          </a:prstGeom>
          <a:solidFill>
            <a:srgbClr val="0A0E27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57400" y="43891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E8EBF5"/>
                </a:solidFill>
                <a:latin typeface="JetBrains Mono"/>
              </a:rPr>
              <a:t>orders=42 · equipment=8 · obj=balanced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8463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00E5C7"/>
                </a:solidFill>
                <a:latin typeface="JetBrains Mono"/>
              </a:rPr>
              <a:t>OutputSummary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965960" y="4846320"/>
            <a:ext cx="4297680" cy="365760"/>
          </a:xfrm>
          <a:prstGeom prst="roundRect">
            <a:avLst>
              <a:gd name="adj" fmla="val 15000"/>
            </a:avLst>
          </a:prstGeom>
          <a:solidFill>
            <a:srgbClr val="0A0E27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57400" y="48463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E8EBF5"/>
                </a:solidFill>
                <a:latin typeface="JetBrains Mono"/>
              </a:rPr>
              <a:t>due_rate=97% · util=84% · co=12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3035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00E5C7"/>
                </a:solidFill>
                <a:latin typeface="JetBrains Mono"/>
              </a:rPr>
              <a:t>BizKey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965960" y="5303520"/>
            <a:ext cx="4297680" cy="365760"/>
          </a:xfrm>
          <a:prstGeom prst="roundRect">
            <a:avLst>
              <a:gd name="adj" fmla="val 15000"/>
            </a:avLst>
          </a:prstGeom>
          <a:solidFill>
            <a:srgbClr val="0A0E27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57400" y="53035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E8EBF5"/>
                </a:solidFill>
                <a:latin typeface="JetBrains Mono"/>
              </a:rPr>
              <a:t>workshop=W01 · plan=2026-05-18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57607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00E5C7"/>
                </a:solidFill>
                <a:latin typeface="JetBrains Mono"/>
              </a:rPr>
              <a:t>Adopted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965960" y="5760720"/>
            <a:ext cx="4297680" cy="365760"/>
          </a:xfrm>
          <a:prstGeom prst="roundRect">
            <a:avLst>
              <a:gd name="adj" fmla="val 15000"/>
            </a:avLst>
          </a:prstGeom>
          <a:solidFill>
            <a:srgbClr val="0A0E27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57400" y="57607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ADE80"/>
                </a:solidFill>
                <a:latin typeface="JetBrains Mono"/>
              </a:rPr>
              <a:t>YES · by lead_001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37960" y="2377440"/>
            <a:ext cx="5166360" cy="4023360"/>
          </a:xfrm>
          <a:prstGeom prst="roundRect">
            <a:avLst>
              <a:gd name="adj" fmla="val 5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720840" y="2542032"/>
            <a:ext cx="1426464" cy="292608"/>
          </a:xfrm>
          <a:prstGeom prst="roundRect">
            <a:avLst>
              <a:gd name="adj" fmla="val 50000"/>
            </a:avLst>
          </a:prstGeom>
          <a:solidFill>
            <a:srgbClr val="1A2142"/>
          </a:solidFill>
          <a:ln w="9525">
            <a:solidFill>
              <a:srgbClr val="4F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0840" y="2578608"/>
            <a:ext cx="14264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4F8DFF"/>
                </a:solidFill>
                <a:latin typeface="Microsoft YaHei UI"/>
              </a:rPr>
              <a:t>采纳反馈分布 · 7 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0840" y="2907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494"/>
                </a:solidFill>
                <a:latin typeface="Microsoft YaHei UI"/>
              </a:rPr>
              <a:t>采纳率反哺规则权重</a:t>
            </a:r>
          </a:p>
        </p:txBody>
      </p:sp>
      <p:graphicFrame>
        <p:nvGraphicFramePr>
          <p:cNvPr id="44" name="Chart 43"/>
          <p:cNvGraphicFramePr>
            <a:graphicFrameLocks noGrp="1"/>
          </p:cNvGraphicFramePr>
          <p:nvPr/>
        </p:nvGraphicFramePr>
        <p:xfrm>
          <a:off x="6675120" y="3154680"/>
          <a:ext cx="493776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4F8D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5486400" cy="5486400"/>
          </a:xfrm>
          <a:prstGeom prst="ellipse">
            <a:avLst/>
          </a:prstGeom>
          <a:solidFill>
            <a:srgbClr val="00E5C7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256032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4F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11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4ADC7"/>
                </a:solidFill>
                <a:latin typeface="Microsoft YaHei UI"/>
              </a:rPr>
              <a:t>AIMes · Industrial AI 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011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494"/>
                </a:solidFill>
                <a:latin typeface="Microsoft YaHei UI"/>
              </a:rPr>
              <a:t>质量与性能    ·    10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494"/>
                </a:solidFill>
                <a:latin typeface="Microsoft YaHei UI"/>
              </a:rPr>
              <a:t>AIMes V1 · 智能制造执行系统 · 宣传画册 · 2026.05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4922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494"/>
                </a:solidFill>
                <a:latin typeface="Microsoft YaHei UI"/>
              </a:rPr>
              <a:t>v0.1.0 · Apache 2.0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12280"/>
            <a:ext cx="8708353" cy="45720"/>
          </a:xfrm>
          <a:prstGeom prst="rect">
            <a:avLst/>
          </a:prstGeom>
          <a:solidFill>
            <a:srgbClr val="00E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841248"/>
            <a:ext cx="274320" cy="18288"/>
          </a:xfrm>
          <a:prstGeom prst="rect">
            <a:avLst/>
          </a:prstGeom>
          <a:solidFill>
            <a:srgbClr val="00E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777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E5C7"/>
                </a:solidFill>
                <a:latin typeface="Microsoft YaHei UI"/>
              </a:rPr>
              <a:t>QUALITY · 工程质量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1430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E8EBF5"/>
                </a:solidFill>
                <a:latin typeface="Microsoft YaHei UI"/>
              </a:rPr>
              <a:t>197 测试 · 性能基准 · 安全基线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783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4ADC7"/>
                </a:solidFill>
                <a:latin typeface="Microsoft YaHei UI"/>
              </a:rPr>
              <a:t>从单元到 E2E，从压测到安全，每一层都有红线兜底。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33172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246888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1A2142"/>
          </a:solidFill>
          <a:ln w="9525">
            <a:solidFill>
              <a:srgbClr val="00E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50545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0E5C7"/>
                </a:solidFill>
                <a:latin typeface="Microsoft YaHei UI"/>
              </a:rPr>
              <a:t>测试覆盖分布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80720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494"/>
                </a:solidFill>
                <a:latin typeface="Microsoft YaHei UI"/>
              </a:rPr>
              <a:t>合计 197 用例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640080" y="3017520"/>
          <a:ext cx="5212080" cy="2011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6172200" y="2331720"/>
            <a:ext cx="5532120" cy="2743200"/>
          </a:xfrm>
          <a:prstGeom prst="roundRect">
            <a:avLst>
              <a:gd name="adj" fmla="val 5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55080" y="2468880"/>
            <a:ext cx="1719072" cy="292608"/>
          </a:xfrm>
          <a:prstGeom prst="roundRect">
            <a:avLst>
              <a:gd name="adj" fmla="val 50000"/>
            </a:avLst>
          </a:prstGeom>
          <a:solidFill>
            <a:srgbClr val="1A2142"/>
          </a:solidFill>
          <a:ln w="9525">
            <a:solidFill>
              <a:srgbClr val="FFB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2505456"/>
            <a:ext cx="17190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B547"/>
                </a:solidFill>
                <a:latin typeface="Microsoft YaHei UI"/>
              </a:rPr>
              <a:t>排程性能 · 订单数 vs 耗时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80720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494"/>
                </a:solidFill>
                <a:latin typeface="Microsoft YaHei UI"/>
              </a:rPr>
              <a:t>BenchmarkDotNet · ms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6309360" y="3017520"/>
          <a:ext cx="5303520" cy="2011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502920" y="5212080"/>
            <a:ext cx="2697480" cy="1143000"/>
          </a:xfrm>
          <a:prstGeom prst="roundRect">
            <a:avLst>
              <a:gd name="adj" fmla="val 6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32180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4F8DFF"/>
                </a:solidFill>
                <a:latin typeface="Microsoft YaHei UI"/>
              </a:rPr>
              <a:t>152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852160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494"/>
                </a:solidFill>
                <a:latin typeface="Microsoft YaHei UI"/>
              </a:rPr>
              <a:t>单元测试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0807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4ADC7"/>
                </a:solidFill>
                <a:latin typeface="Microsoft YaHei UI"/>
              </a:rPr>
              <a:t>域逻辑 + 规则引擎 + 重排器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10128" y="5212080"/>
            <a:ext cx="2697480" cy="1143000"/>
          </a:xfrm>
          <a:prstGeom prst="roundRect">
            <a:avLst>
              <a:gd name="adj" fmla="val 6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93008" y="532180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E5C7"/>
                </a:solidFill>
                <a:latin typeface="Microsoft YaHei UI"/>
              </a:rPr>
              <a:t>45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93008" y="5852160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494"/>
                </a:solidFill>
                <a:latin typeface="Microsoft YaHei UI"/>
              </a:rPr>
              <a:t>集成测试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3008" y="60807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4ADC7"/>
                </a:solidFill>
                <a:latin typeface="Microsoft YaHei UI"/>
              </a:rPr>
              <a:t>WebApplicationFactory + DB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17336" y="5212080"/>
            <a:ext cx="2697480" cy="1143000"/>
          </a:xfrm>
          <a:prstGeom prst="roundRect">
            <a:avLst>
              <a:gd name="adj" fmla="val 6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0216" y="532180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B547"/>
                </a:solidFill>
                <a:latin typeface="Microsoft YaHei UI"/>
              </a:rPr>
              <a:t>E2E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0216" y="5852160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494"/>
                </a:solidFill>
                <a:latin typeface="Microsoft YaHei UI"/>
              </a:rPr>
              <a:t>Playwright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0216" y="60807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4ADC7"/>
                </a:solidFill>
                <a:latin typeface="Microsoft YaHei UI"/>
              </a:rPr>
              <a:t>登录/排程/看板黄金路径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24544" y="5212080"/>
            <a:ext cx="2697480" cy="1143000"/>
          </a:xfrm>
          <a:prstGeom prst="roundRect">
            <a:avLst>
              <a:gd name="adj" fmla="val 6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532180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6B9D"/>
                </a:solidFill>
                <a:latin typeface="Microsoft YaHei UI"/>
              </a:rPr>
              <a:t>JWT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07424" y="5852160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494"/>
                </a:solidFill>
                <a:latin typeface="Microsoft YaHei UI"/>
              </a:rPr>
              <a:t>安全基线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07424" y="60807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4ADC7"/>
                </a:solidFill>
                <a:latin typeface="Microsoft YaHei UI"/>
              </a:rPr>
              <a:t>Refresh 轮转 + 速率限制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4F8D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5486400" cy="5486400"/>
          </a:xfrm>
          <a:prstGeom prst="ellipse">
            <a:avLst/>
          </a:prstGeom>
          <a:solidFill>
            <a:srgbClr val="00E5C7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256032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4F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11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4ADC7"/>
                </a:solidFill>
                <a:latin typeface="Microsoft YaHei UI"/>
              </a:rPr>
              <a:t>AIMes · Industrial AI 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011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494"/>
                </a:solidFill>
                <a:latin typeface="Microsoft YaHei UI"/>
              </a:rPr>
              <a:t>开源 vs 商业    ·    11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494"/>
                </a:solidFill>
                <a:latin typeface="Microsoft YaHei UI"/>
              </a:rPr>
              <a:t>AIMes V1 · 智能制造执行系统 · 宣传画册 · 2026.05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4922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494"/>
                </a:solidFill>
                <a:latin typeface="Microsoft YaHei UI"/>
              </a:rPr>
              <a:t>v0.1.0 · Apache 2.0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12280"/>
            <a:ext cx="9579188" cy="45720"/>
          </a:xfrm>
          <a:prstGeom prst="rect">
            <a:avLst/>
          </a:prstGeom>
          <a:solidFill>
            <a:srgbClr val="00E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841248"/>
            <a:ext cx="274320" cy="18288"/>
          </a:xfrm>
          <a:prstGeom prst="rect">
            <a:avLst/>
          </a:prstGeom>
          <a:solidFill>
            <a:srgbClr val="00E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777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E5C7"/>
                </a:solidFill>
                <a:latin typeface="Microsoft YaHei UI"/>
              </a:rPr>
              <a:t>EDITIONS · 开源 &amp; 商业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1430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8EBF5"/>
                </a:solidFill>
                <a:latin typeface="Microsoft YaHei UI"/>
              </a:rPr>
              <a:t>开源版给你 80% · 商业版给你最后一公里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874519"/>
            <a:ext cx="5486400" cy="4526280"/>
          </a:xfrm>
          <a:prstGeom prst="roundRect">
            <a:avLst>
              <a:gd name="adj" fmla="val 5000"/>
            </a:avLst>
          </a:prstGeom>
          <a:solidFill>
            <a:srgbClr val="121836"/>
          </a:solidFill>
          <a:ln w="9525">
            <a:solidFill>
              <a:srgbClr val="00E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0116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0E5C7"/>
                </a:solidFill>
                <a:latin typeface="Microsoft YaHei UI"/>
              </a:rPr>
              <a:t>开源版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4688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494"/>
                </a:solidFill>
                <a:latin typeface="Microsoft YaHei UI"/>
              </a:rPr>
              <a:t>Apache 2.0 · 单机 Docker · GitHub Issues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20116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A2142"/>
          </a:solidFill>
          <a:ln w="9525">
            <a:solidFill>
              <a:srgbClr val="00E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2048256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0E5C7"/>
                </a:solidFill>
                <a:latin typeface="Microsoft YaHei UI"/>
              </a:rPr>
              <a:t>你正在看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2880360"/>
            <a:ext cx="4937760" cy="365760"/>
          </a:xfrm>
          <a:prstGeom prst="roundRect">
            <a:avLst>
              <a:gd name="adj" fmla="val 18000"/>
            </a:avLst>
          </a:prstGeom>
          <a:solidFill>
            <a:srgbClr val="1A2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" y="2953512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00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953512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2926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8EBF5"/>
                </a:solidFill>
                <a:latin typeface="Microsoft YaHei UI"/>
              </a:rPr>
              <a:t>规则引擎 (EDD/SPT/WSPT)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29260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6B7494"/>
                </a:solidFill>
                <a:latin typeface="JetBrains Mono"/>
              </a:rPr>
              <a:t>deterministic-v1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291840"/>
            <a:ext cx="4937760" cy="365760"/>
          </a:xfrm>
          <a:prstGeom prst="roundRect">
            <a:avLst>
              <a:gd name="adj" fmla="val 18000"/>
            </a:avLst>
          </a:prstGeom>
          <a:solidFill>
            <a:srgbClr val="1A2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4400" y="3364992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00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364992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33375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8EBF5"/>
                </a:solidFill>
                <a:latin typeface="Microsoft YaHei UI"/>
              </a:rPr>
              <a:t>重排器 (插单/故障/锁定)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33375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6B7494"/>
                </a:solidFill>
                <a:latin typeface="JetBrains Mono"/>
              </a:rPr>
              <a:t>Rescheduler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3703320"/>
            <a:ext cx="4937760" cy="365760"/>
          </a:xfrm>
          <a:prstGeom prst="roundRect">
            <a:avLst>
              <a:gd name="adj" fmla="val 18000"/>
            </a:avLst>
          </a:prstGeom>
          <a:solidFill>
            <a:srgbClr val="1A2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4400" y="3776472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00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3776472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37490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8EBF5"/>
                </a:solidFill>
                <a:latin typeface="Microsoft YaHei UI"/>
              </a:rPr>
              <a:t>多目标 4 函数 (单目标)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37490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6B7494"/>
                </a:solidFill>
                <a:latin typeface="JetBrains Mono"/>
              </a:rPr>
              <a:t>Due/Util/Co/Bal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4114800"/>
            <a:ext cx="4937760" cy="365760"/>
          </a:xfrm>
          <a:prstGeom prst="roundRect">
            <a:avLst>
              <a:gd name="adj" fmla="val 18000"/>
            </a:avLst>
          </a:prstGeom>
          <a:solidFill>
            <a:srgbClr val="1A2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14400" y="4187952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187952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 UI"/>
              </a:rPr>
              <a:t>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0160" y="4160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8EBF5"/>
                </a:solidFill>
                <a:latin typeface="Microsoft YaHei UI"/>
              </a:rPr>
              <a:t>LLM 混合精调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23360" y="41605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6B7494"/>
                </a:solidFill>
                <a:latin typeface="JetBrains Mono"/>
              </a:rPr>
              <a:t>接口占位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4526280"/>
            <a:ext cx="4937760" cy="365760"/>
          </a:xfrm>
          <a:prstGeom prst="roundRect">
            <a:avLst>
              <a:gd name="adj" fmla="val 18000"/>
            </a:avLst>
          </a:prstGeom>
          <a:solidFill>
            <a:srgbClr val="1A2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14400" y="4599432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99432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 UI"/>
              </a:rPr>
              <a:t>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45720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8EBF5"/>
                </a:solidFill>
                <a:latin typeface="Microsoft YaHei UI"/>
              </a:rPr>
              <a:t>ONNX 视觉质检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23360" y="45720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6B7494"/>
                </a:solidFill>
                <a:latin typeface="JetBrains Mono"/>
              </a:rPr>
              <a:t>接口占位 + LLM 兜底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" y="4937760"/>
            <a:ext cx="4937760" cy="365760"/>
          </a:xfrm>
          <a:prstGeom prst="roundRect">
            <a:avLst>
              <a:gd name="adj" fmla="val 18000"/>
            </a:avLst>
          </a:prstGeom>
          <a:solidFill>
            <a:srgbClr val="1A2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14400" y="5010912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00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5010912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 UI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80160" y="49834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8EBF5"/>
                </a:solidFill>
                <a:latin typeface="Microsoft YaHei UI"/>
              </a:rPr>
              <a:t>关键字检索 / 演示 RAG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23360" y="49834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6B7494"/>
                </a:solidFill>
                <a:latin typeface="JetBrains Mono"/>
              </a:rPr>
              <a:t>demo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7240" y="5349240"/>
            <a:ext cx="4937760" cy="365760"/>
          </a:xfrm>
          <a:prstGeom prst="roundRect">
            <a:avLst>
              <a:gd name="adj" fmla="val 18000"/>
            </a:avLst>
          </a:prstGeom>
          <a:solidFill>
            <a:srgbClr val="1A2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14400" y="5422392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400" y="5422392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 UI"/>
              </a:rPr>
              <a:t>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80160" y="53949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8EBF5"/>
                </a:solidFill>
                <a:latin typeface="Microsoft YaHei UI"/>
              </a:rPr>
              <a:t>Pareto Top-3 / 自学习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23360" y="53949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6B7494"/>
                </a:solidFill>
                <a:latin typeface="JetBrains Mono"/>
              </a:rPr>
              <a:t>商业版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77240" y="5760720"/>
            <a:ext cx="4937760" cy="365760"/>
          </a:xfrm>
          <a:prstGeom prst="roundRect">
            <a:avLst>
              <a:gd name="adj" fmla="val 18000"/>
            </a:avLst>
          </a:prstGeom>
          <a:solidFill>
            <a:srgbClr val="1A2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14400" y="5833872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" y="5833872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 UI"/>
              </a:rPr>
              <a:t>−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80160" y="58064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8EBF5"/>
                </a:solidFill>
                <a:latin typeface="Microsoft YaHei UI"/>
              </a:rPr>
              <a:t>K8s / 多租户 / SLA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23360" y="58064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6B7494"/>
                </a:solidFill>
                <a:latin typeface="JetBrains Mono"/>
              </a:rPr>
              <a:t>商业版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53912" y="1874519"/>
            <a:ext cx="5486400" cy="4526280"/>
          </a:xfrm>
          <a:prstGeom prst="roundRect">
            <a:avLst>
              <a:gd name="adj" fmla="val 5000"/>
            </a:avLst>
          </a:prstGeom>
          <a:solidFill>
            <a:srgbClr val="121836"/>
          </a:solidFill>
          <a:ln w="9525">
            <a:solidFill>
              <a:srgbClr val="FFB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28232" y="20116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B547"/>
                </a:solidFill>
                <a:latin typeface="Microsoft YaHei UI"/>
              </a:rPr>
              <a:t>商业版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28232" y="24688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494"/>
                </a:solidFill>
                <a:latin typeface="Microsoft YaHei UI"/>
              </a:rPr>
              <a:t>商业许可 · K8s/多租户 · 1 工作日响应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268712" y="20116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A2142"/>
          </a:solidFill>
          <a:ln w="9525">
            <a:solidFill>
              <a:srgbClr val="FFB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268712" y="2048256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B547"/>
                </a:solidFill>
                <a:latin typeface="Microsoft YaHei UI"/>
              </a:rPr>
              <a:t>联系我们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428232" y="2880360"/>
            <a:ext cx="4937760" cy="365760"/>
          </a:xfrm>
          <a:prstGeom prst="roundRect">
            <a:avLst>
              <a:gd name="adj" fmla="val 18000"/>
            </a:avLst>
          </a:prstGeom>
          <a:solidFill>
            <a:srgbClr val="1A2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565392" y="2953512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00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65392" y="2953512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 UI"/>
              </a:rPr>
              <a:t>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31152" y="2926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8EBF5"/>
                </a:solidFill>
                <a:latin typeface="Microsoft YaHei UI"/>
              </a:rPr>
              <a:t>规则引擎 (全部继承)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74352" y="29260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6B7494"/>
                </a:solidFill>
                <a:latin typeface="JetBrains Mono"/>
              </a:rPr>
              <a:t>同开源 +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428232" y="3291840"/>
            <a:ext cx="4937760" cy="365760"/>
          </a:xfrm>
          <a:prstGeom prst="roundRect">
            <a:avLst>
              <a:gd name="adj" fmla="val 18000"/>
            </a:avLst>
          </a:prstGeom>
          <a:solidFill>
            <a:srgbClr val="1A2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6565392" y="3364992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00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565392" y="3364992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 UI"/>
              </a:rPr>
              <a:t>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31152" y="33375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8EBF5"/>
                </a:solidFill>
                <a:latin typeface="Microsoft YaHei UI"/>
              </a:rPr>
              <a:t>LLM 多目标 Pareto Top-3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74352" y="33375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6B7494"/>
                </a:solidFill>
                <a:latin typeface="JetBrains Mono"/>
              </a:rPr>
              <a:t>完整精调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428232" y="3703320"/>
            <a:ext cx="4937760" cy="365760"/>
          </a:xfrm>
          <a:prstGeom prst="roundRect">
            <a:avLst>
              <a:gd name="adj" fmla="val 18000"/>
            </a:avLst>
          </a:prstGeom>
          <a:solidFill>
            <a:srgbClr val="1A2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6565392" y="3776472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00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565392" y="3776472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 UI"/>
              </a:rPr>
              <a:t>✓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931152" y="37490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8EBF5"/>
                </a:solidFill>
                <a:latin typeface="Microsoft YaHei UI"/>
              </a:rPr>
              <a:t>历史数据自学习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74352" y="37490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6B7494"/>
                </a:solidFill>
                <a:latin typeface="JetBrains Mono"/>
              </a:rPr>
              <a:t>采纳反馈反哺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428232" y="4114800"/>
            <a:ext cx="4937760" cy="365760"/>
          </a:xfrm>
          <a:prstGeom prst="roundRect">
            <a:avLst>
              <a:gd name="adj" fmla="val 18000"/>
            </a:avLst>
          </a:prstGeom>
          <a:solidFill>
            <a:srgbClr val="1A2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6565392" y="4187952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00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565392" y="4187952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 UI"/>
              </a:rPr>
              <a:t>✓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931152" y="4160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8EBF5"/>
                </a:solidFill>
                <a:latin typeface="Microsoft YaHei UI"/>
              </a:rPr>
              <a:t>多车间协同排程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674352" y="41605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6B7494"/>
                </a:solidFill>
                <a:latin typeface="JetBrains Mono"/>
              </a:rPr>
              <a:t>Cross-Workshop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428232" y="4526280"/>
            <a:ext cx="4937760" cy="365760"/>
          </a:xfrm>
          <a:prstGeom prst="roundRect">
            <a:avLst>
              <a:gd name="adj" fmla="val 18000"/>
            </a:avLst>
          </a:prstGeom>
          <a:solidFill>
            <a:srgbClr val="1A2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6565392" y="4599432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00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565392" y="4599432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 UI"/>
              </a:rPr>
              <a:t>✓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931152" y="45720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8EBF5"/>
                </a:solidFill>
                <a:latin typeface="Microsoft YaHei UI"/>
              </a:rPr>
              <a:t>ONNX 真实模型 + AB 实验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674352" y="45720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6B7494"/>
                </a:solidFill>
                <a:latin typeface="JetBrains Mono"/>
              </a:rPr>
              <a:t>多模型版本管理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428232" y="4937760"/>
            <a:ext cx="4937760" cy="365760"/>
          </a:xfrm>
          <a:prstGeom prst="roundRect">
            <a:avLst>
              <a:gd name="adj" fmla="val 18000"/>
            </a:avLst>
          </a:prstGeom>
          <a:solidFill>
            <a:srgbClr val="1A2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6565392" y="5010912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00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565392" y="5010912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 UI"/>
              </a:rPr>
              <a:t>✓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31152" y="49834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8EBF5"/>
                </a:solidFill>
                <a:latin typeface="Microsoft YaHei UI"/>
              </a:rPr>
              <a:t>Qdrant 工业级 RAG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674352" y="49834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6B7494"/>
                </a:solidFill>
                <a:latin typeface="JetBrains Mono"/>
              </a:rPr>
              <a:t>完整 Agent 编排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428232" y="5349240"/>
            <a:ext cx="4937760" cy="365760"/>
          </a:xfrm>
          <a:prstGeom prst="roundRect">
            <a:avLst>
              <a:gd name="adj" fmla="val 18000"/>
            </a:avLst>
          </a:prstGeom>
          <a:solidFill>
            <a:srgbClr val="1A2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6565392" y="5422392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00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565392" y="5422392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 UI"/>
              </a:rPr>
              <a:t>✓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931152" y="53949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8EBF5"/>
                </a:solidFill>
                <a:latin typeface="Microsoft YaHei UI"/>
              </a:rPr>
              <a:t>边缘协议 / BI 数据管道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674352" y="53949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6B7494"/>
                </a:solidFill>
                <a:latin typeface="JetBrains Mono"/>
              </a:rPr>
              <a:t>Modbus / OPC UA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428232" y="5760720"/>
            <a:ext cx="4937760" cy="365760"/>
          </a:xfrm>
          <a:prstGeom prst="roundRect">
            <a:avLst>
              <a:gd name="adj" fmla="val 18000"/>
            </a:avLst>
          </a:prstGeom>
          <a:solidFill>
            <a:srgbClr val="1A2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6565392" y="5833872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00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565392" y="5833872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 UI"/>
              </a:rPr>
              <a:t>✓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931152" y="58064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8EBF5"/>
                </a:solidFill>
                <a:latin typeface="Microsoft YaHei UI"/>
              </a:rPr>
              <a:t>K8s/多租户/私有部署 + SLA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674352" y="58064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6B7494"/>
                </a:solidFill>
                <a:latin typeface="JetBrains Mono"/>
              </a:rPr>
              <a:t>企业支持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4F8D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5486400" cy="5486400"/>
          </a:xfrm>
          <a:prstGeom prst="ellipse">
            <a:avLst/>
          </a:prstGeom>
          <a:solidFill>
            <a:srgbClr val="00E5C7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256032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4F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11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4ADC7"/>
                </a:solidFill>
                <a:latin typeface="Microsoft YaHei UI"/>
              </a:rPr>
              <a:t>AIMes · Industrial AI 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011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494"/>
                </a:solidFill>
                <a:latin typeface="Microsoft YaHei UI"/>
              </a:rPr>
              <a:t>产品路线    ·    12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494"/>
                </a:solidFill>
                <a:latin typeface="Microsoft YaHei UI"/>
              </a:rPr>
              <a:t>AIMes V1 · 智能制造执行系统 · 宣传画册 · 2026.05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4922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494"/>
                </a:solidFill>
                <a:latin typeface="Microsoft YaHei UI"/>
              </a:rPr>
              <a:t>v0.1.0 · Apache 2.0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12280"/>
            <a:ext cx="10450024" cy="45720"/>
          </a:xfrm>
          <a:prstGeom prst="rect">
            <a:avLst/>
          </a:prstGeom>
          <a:solidFill>
            <a:srgbClr val="00E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841248"/>
            <a:ext cx="274320" cy="18288"/>
          </a:xfrm>
          <a:prstGeom prst="rect">
            <a:avLst/>
          </a:prstGeom>
          <a:solidFill>
            <a:srgbClr val="00E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777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E5C7"/>
                </a:solidFill>
                <a:latin typeface="Microsoft YaHei UI"/>
              </a:rPr>
              <a:t>ROADMAP · 演进路线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1430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8EBF5"/>
                </a:solidFill>
                <a:latin typeface="Microsoft YaHei UI"/>
              </a:rPr>
              <a:t>从规则到自学习 · V1 → V4 长期愿景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783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4ADC7"/>
                </a:solidFill>
                <a:latin typeface="Microsoft YaHei UI"/>
              </a:rPr>
              <a:t>Phase 1 已落地，Phase 2 切片正在路上。开源版功能边界冻结，未来版本只增不减。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114800"/>
            <a:ext cx="10332720" cy="36576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07008" y="3968496"/>
            <a:ext cx="329184" cy="329184"/>
          </a:xfrm>
          <a:prstGeom prst="ellipse">
            <a:avLst/>
          </a:prstGeom>
          <a:solidFill>
            <a:srgbClr val="00E5C7"/>
          </a:solidFill>
          <a:ln w="12700">
            <a:solidFill>
              <a:srgbClr val="00E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82880" y="2331720"/>
            <a:ext cx="2377440" cy="1554480"/>
          </a:xfrm>
          <a:prstGeom prst="roundRect">
            <a:avLst>
              <a:gd name="adj" fmla="val 6000"/>
            </a:avLst>
          </a:prstGeom>
          <a:solidFill>
            <a:srgbClr val="121836"/>
          </a:solidFill>
          <a:ln w="9525">
            <a:solidFill>
              <a:srgbClr val="00E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4688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E5C7"/>
                </a:solidFill>
                <a:latin typeface="JetBrains Mono"/>
              </a:rPr>
              <a:t>v0.1.0 — DONE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7432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EBF5"/>
                </a:solidFill>
                <a:latin typeface="Microsoft YaHei UI"/>
              </a:rPr>
              <a:t>P1 · 开源首发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10896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4ADC7"/>
                </a:solidFill>
                <a:latin typeface="Microsoft YaHei UI"/>
              </a:rPr>
              <a:t>规则引擎 + 13+ 模块
决策追溯 + Docker Compose 一键启动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5661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0E5C7"/>
                </a:solidFill>
                <a:latin typeface="JetBrains Mono"/>
              </a:rPr>
              <a:t>2026.05.14</a:t>
            </a:r>
          </a:p>
        </p:txBody>
      </p:sp>
      <p:sp>
        <p:nvSpPr>
          <p:cNvPr id="22" name="Oval 21"/>
          <p:cNvSpPr/>
          <p:nvPr/>
        </p:nvSpPr>
        <p:spPr>
          <a:xfrm>
            <a:off x="3995928" y="3968496"/>
            <a:ext cx="329184" cy="329184"/>
          </a:xfrm>
          <a:prstGeom prst="ellipse">
            <a:avLst/>
          </a:prstGeom>
          <a:solidFill>
            <a:srgbClr val="FFB54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971800" y="4526280"/>
            <a:ext cx="2377440" cy="1554480"/>
          </a:xfrm>
          <a:prstGeom prst="roundRect">
            <a:avLst>
              <a:gd name="adj" fmla="val 6000"/>
            </a:avLst>
          </a:prstGeom>
          <a:solidFill>
            <a:srgbClr val="121836"/>
          </a:solidFill>
          <a:ln w="9525">
            <a:solidFill>
              <a:srgbClr val="FFB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54680" y="46634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B547"/>
                </a:solidFill>
                <a:latin typeface="JetBrains Mono"/>
              </a:rPr>
              <a:t>v0.2.x — NOW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49377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EBF5"/>
                </a:solidFill>
                <a:latin typeface="Microsoft YaHei UI"/>
              </a:rPr>
              <a:t>P2 · DX 与稳定性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530352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4ADC7"/>
                </a:solidFill>
                <a:latin typeface="Microsoft YaHei UI"/>
              </a:rPr>
              <a:t>启动横幅 + 路径自动跳转
Production Swagger · 文档与故障排查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57607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0E5C7"/>
                </a:solidFill>
                <a:latin typeface="JetBrains Mono"/>
              </a:rPr>
              <a:t>2026.05 · 进行中</a:t>
            </a:r>
          </a:p>
        </p:txBody>
      </p:sp>
      <p:sp>
        <p:nvSpPr>
          <p:cNvPr id="28" name="Oval 27"/>
          <p:cNvSpPr/>
          <p:nvPr/>
        </p:nvSpPr>
        <p:spPr>
          <a:xfrm>
            <a:off x="6784848" y="3968496"/>
            <a:ext cx="329184" cy="32918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760720" y="2331720"/>
            <a:ext cx="2377440" cy="1554480"/>
          </a:xfrm>
          <a:prstGeom prst="roundRect">
            <a:avLst>
              <a:gd name="adj" fmla="val 6000"/>
            </a:avLst>
          </a:prstGeom>
          <a:solidFill>
            <a:srgbClr val="121836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0" y="24688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78BFA"/>
                </a:solidFill>
                <a:latin typeface="JetBrains Mono"/>
              </a:rPr>
              <a:t>v0.3 — NEXT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27432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EBF5"/>
                </a:solidFill>
                <a:latin typeface="Microsoft YaHei UI"/>
              </a:rPr>
              <a:t>P3 · LLM 精调下沉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10896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4ADC7"/>
                </a:solidFill>
                <a:latin typeface="Microsoft YaHei UI"/>
              </a:rPr>
              <a:t>混合架构能力增强
边缘协议适配实验 + 知识库向量基础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35661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0E5C7"/>
                </a:solidFill>
                <a:latin typeface="JetBrains Mono"/>
              </a:rPr>
              <a:t>2026 H2</a:t>
            </a:r>
          </a:p>
        </p:txBody>
      </p:sp>
      <p:sp>
        <p:nvSpPr>
          <p:cNvPr id="34" name="Oval 33"/>
          <p:cNvSpPr/>
          <p:nvPr/>
        </p:nvSpPr>
        <p:spPr>
          <a:xfrm>
            <a:off x="9573767" y="3968496"/>
            <a:ext cx="329184" cy="32918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549639" y="4526280"/>
            <a:ext cx="2377440" cy="1554480"/>
          </a:xfrm>
          <a:prstGeom prst="roundRect">
            <a:avLst>
              <a:gd name="adj" fmla="val 6000"/>
            </a:avLst>
          </a:prstGeom>
          <a:solidFill>
            <a:srgbClr val="121836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32519" y="46634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78BFA"/>
                </a:solidFill>
                <a:latin typeface="JetBrains Mono"/>
              </a:rPr>
              <a:t>v4.0 — VISION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19" y="49377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EBF5"/>
                </a:solidFill>
                <a:latin typeface="Microsoft YaHei UI"/>
              </a:rPr>
              <a:t>P4 · 插件化平台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19" y="530352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4ADC7"/>
                </a:solidFill>
                <a:latin typeface="Microsoft YaHei UI"/>
              </a:rPr>
              <a:t>插件架构 · 多车间协同
自学习反哺 · 工业 Agent 生态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32519" y="57607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0E5C7"/>
                </a:solidFill>
                <a:latin typeface="JetBrains Mono"/>
              </a:rPr>
              <a:t>2027+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4F8D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5486400" cy="5486400"/>
          </a:xfrm>
          <a:prstGeom prst="ellipse">
            <a:avLst/>
          </a:prstGeom>
          <a:solidFill>
            <a:srgbClr val="00E5C7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256032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4F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11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4ADC7"/>
                </a:solidFill>
                <a:latin typeface="Microsoft YaHei UI"/>
              </a:rPr>
              <a:t>AIMes · Industrial AI 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011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494"/>
                </a:solidFill>
                <a:latin typeface="Microsoft YaHei UI"/>
              </a:rPr>
              <a:t>快速启动    ·    13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494"/>
                </a:solidFill>
                <a:latin typeface="Microsoft YaHei UI"/>
              </a:rPr>
              <a:t>AIMes V1 · 智能制造执行系统 · 宣传画册 · 2026.05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4922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494"/>
                </a:solidFill>
                <a:latin typeface="Microsoft YaHei UI"/>
              </a:rPr>
              <a:t>v0.1.0 · Apache 2.0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12280"/>
            <a:ext cx="11320859" cy="45720"/>
          </a:xfrm>
          <a:prstGeom prst="rect">
            <a:avLst/>
          </a:prstGeom>
          <a:solidFill>
            <a:srgbClr val="00E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841248"/>
            <a:ext cx="274320" cy="18288"/>
          </a:xfrm>
          <a:prstGeom prst="rect">
            <a:avLst/>
          </a:prstGeom>
          <a:solidFill>
            <a:srgbClr val="00E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777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E5C7"/>
                </a:solidFill>
                <a:latin typeface="Microsoft YaHei UI"/>
              </a:rPr>
              <a:t>QUICKSTART · 5 分钟启动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1430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E8EBF5"/>
                </a:solidFill>
                <a:latin typeface="Microsoft YaHei UI"/>
              </a:rPr>
              <a:t>三步上车 · 看到带数据的甘特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783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4ADC7"/>
                </a:solidFill>
                <a:latin typeface="Microsoft YaHei UI"/>
              </a:rPr>
              <a:t>需要：Docker Desktop ≥ 4.20 · 8GB RAM · 20GB 磁盘空间。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377440"/>
            <a:ext cx="5486400" cy="1097280"/>
          </a:xfrm>
          <a:prstGeom prst="roundRect">
            <a:avLst>
              <a:gd name="adj" fmla="val 5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60604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4F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6060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 U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5603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EBF5"/>
                </a:solidFill>
                <a:latin typeface="Microsoft YaHei UI"/>
              </a:rPr>
              <a:t>克隆并启动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2926080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4ADC7"/>
                </a:solidFill>
                <a:latin typeface="Microsoft YaHei UI"/>
              </a:rPr>
              <a:t>一条命令拉起 5 个容器（API · Postgres · Redis · RabbitMQ · Qdrant）。
首次拉镜像约 3-5 分钟。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611880"/>
            <a:ext cx="5486400" cy="1097280"/>
          </a:xfrm>
          <a:prstGeom prst="roundRect">
            <a:avLst>
              <a:gd name="adj" fmla="val 5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384048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4F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8404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 U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379476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EBF5"/>
                </a:solidFill>
                <a:latin typeface="Microsoft YaHei UI"/>
              </a:rPr>
              <a:t>等待 healthy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160520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4ADC7"/>
                </a:solidFill>
                <a:latin typeface="Microsoft YaHei UI"/>
              </a:rPr>
              <a:t>看到所有容器 healthy 后，浏览器打开 http://localhost:5000，自动跳转到登录页。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846320"/>
            <a:ext cx="5486400" cy="1097280"/>
          </a:xfrm>
          <a:prstGeom prst="roundRect">
            <a:avLst>
              <a:gd name="adj" fmla="val 5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50749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4F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0749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 U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02920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EBF5"/>
                </a:solidFill>
                <a:latin typeface="Microsoft YaHei UI"/>
              </a:rPr>
              <a:t>登录 · 看到甘特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394960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4ADC7"/>
                </a:solidFill>
                <a:latin typeface="Microsoft YaHei UI"/>
              </a:rPr>
              <a:t>用 admin / admin@123 登录，立即看到带演示数据的排程甘特图。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2377440"/>
            <a:ext cx="5532120" cy="3657600"/>
          </a:xfrm>
          <a:prstGeom prst="roundRect">
            <a:avLst>
              <a:gd name="adj" fmla="val 4000"/>
            </a:avLst>
          </a:prstGeom>
          <a:solidFill>
            <a:srgbClr val="000814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172200" y="2377440"/>
            <a:ext cx="5532120" cy="329184"/>
          </a:xfrm>
          <a:prstGeom prst="roundRect">
            <a:avLst>
              <a:gd name="adj" fmla="val 4000"/>
            </a:avLst>
          </a:prstGeom>
          <a:solidFill>
            <a:srgbClr val="1A2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09360" y="2468880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10528" y="2468880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711696" y="2468880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0" y="24231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494"/>
                </a:solidFill>
                <a:latin typeface="JetBrains Mono"/>
              </a:rPr>
              <a:t>~/aimes — bash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27889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ADE80"/>
                </a:solidFill>
                <a:latin typeface="JetBrains Mono"/>
              </a:rPr>
              <a:t>$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2788920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8EBF5"/>
                </a:solidFill>
                <a:latin typeface="JetBrains Mono"/>
              </a:rPr>
              <a:t>git clone https://github.com/YOUR_ORG/aimes.git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2999232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ADE80"/>
                </a:solidFill>
                <a:latin typeface="JetBrains Mono"/>
              </a:rPr>
              <a:t>$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2999232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8EBF5"/>
                </a:solidFill>
                <a:latin typeface="JetBrains Mono"/>
              </a:rPr>
              <a:t>cd aimes/v1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3209544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ADE80"/>
                </a:solidFill>
                <a:latin typeface="JetBrains Mono"/>
              </a:rPr>
              <a:t>$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3209544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8EBF5"/>
                </a:solidFill>
                <a:latin typeface="JetBrains Mono"/>
              </a:rPr>
              <a:t>docker compose up -d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3419856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4ADC7"/>
                </a:solidFill>
                <a:latin typeface="JetBrains Mono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3630168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4ADC7"/>
                </a:solidFill>
                <a:latin typeface="JetBrains Mono"/>
              </a:rPr>
              <a:t>[+] Running 5/5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3840480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E5C7"/>
                </a:solidFill>
                <a:latin typeface="JetBrains Mono"/>
              </a:rPr>
              <a:t>  ✔ aimes-postgres   Healthy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37960" y="4050791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E5C7"/>
                </a:solidFill>
                <a:latin typeface="JetBrains Mono"/>
              </a:rPr>
              <a:t>  ✔ aimes-redis      Healthy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4261104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E5C7"/>
                </a:solidFill>
                <a:latin typeface="JetBrains Mono"/>
              </a:rPr>
              <a:t>  ✔ aimes-rabbitmq   Healthy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37960" y="4471416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E5C7"/>
                </a:solidFill>
                <a:latin typeface="JetBrains Mono"/>
              </a:rPr>
              <a:t>  ✔ aimes-qdrant     Healthy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37960" y="4681728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E5C7"/>
                </a:solidFill>
                <a:latin typeface="JetBrains Mono"/>
              </a:rPr>
              <a:t>  ✔ aimes-api        Healthy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37960" y="4892040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4ADC7"/>
                </a:solidFill>
                <a:latin typeface="JetBrains Mono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37960" y="5102352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E5C7"/>
                </a:solidFill>
                <a:latin typeface="JetBrains Mono"/>
              </a:rPr>
              <a:t> Login   → http://localhost:5000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37960" y="5312664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E5C7"/>
                </a:solidFill>
                <a:latin typeface="JetBrains Mono"/>
              </a:rPr>
              <a:t> Swagger → http://localhost:5000/swagger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7960" y="5522976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4ADC7"/>
                </a:solidFill>
                <a:latin typeface="JetBrains Mono"/>
              </a:rPr>
              <a:t> 默认账号 admin / admin@123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4F8D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5486400" cy="5486400"/>
          </a:xfrm>
          <a:prstGeom prst="ellipse">
            <a:avLst/>
          </a:prstGeom>
          <a:solidFill>
            <a:srgbClr val="00E5C7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256032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4F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11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4ADC7"/>
                </a:solidFill>
                <a:latin typeface="Microsoft YaHei UI"/>
              </a:rPr>
              <a:t>AIMes · Industrial AI 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011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494"/>
                </a:solidFill>
                <a:latin typeface="Microsoft YaHei UI"/>
              </a:rPr>
              <a:t>立即开始    ·    14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494"/>
                </a:solidFill>
                <a:latin typeface="Microsoft YaHei UI"/>
              </a:rPr>
              <a:t>AIMes V1 · 智能制造执行系统 · 宣传画册 · 2026.05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4922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494"/>
                </a:solidFill>
                <a:latin typeface="Microsoft YaHei UI"/>
              </a:rPr>
              <a:t>v0.1.0 · Apache 2.0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E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0" y="0"/>
            <a:ext cx="7315200" cy="7315200"/>
          </a:xfrm>
          <a:prstGeom prst="ellipse">
            <a:avLst/>
          </a:prstGeom>
          <a:solidFill>
            <a:srgbClr val="4F8D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344168"/>
            <a:ext cx="274320" cy="18288"/>
          </a:xfrm>
          <a:prstGeom prst="rect">
            <a:avLst/>
          </a:prstGeom>
          <a:solidFill>
            <a:srgbClr val="00E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2801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E5C7"/>
                </a:solidFill>
                <a:latin typeface="Microsoft YaHei UI"/>
              </a:rPr>
              <a:t>START · 立即开始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691640"/>
            <a:ext cx="7315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E8EBF5"/>
                </a:solidFill>
                <a:latin typeface="Microsoft YaHei UI"/>
              </a:rPr>
              <a:t>让 MES 从此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606040"/>
            <a:ext cx="7315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00E5C7"/>
                </a:solidFill>
                <a:latin typeface="Microsoft YaHei UI"/>
              </a:rPr>
              <a:t>「会预测」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657600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4ADC7"/>
                </a:solidFill>
                <a:latin typeface="Microsoft YaHei UI"/>
              </a:rPr>
              <a:t>开源版给工厂一个能用、能信、能扩的起点。
商业版给你最后一公里——LLM 多目标、自学习、多租户、SLA。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617720"/>
            <a:ext cx="6858000" cy="548640"/>
          </a:xfrm>
          <a:prstGeom prst="roundRect">
            <a:avLst>
              <a:gd name="adj" fmla="val 15000"/>
            </a:avLst>
          </a:prstGeom>
          <a:solidFill>
            <a:srgbClr val="4F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470916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7091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4F8DFF"/>
                </a:solidFill>
                <a:latin typeface="Microsoft YaHei UI"/>
              </a:rPr>
              <a:t>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663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0EFFF"/>
                </a:solidFill>
                <a:latin typeface="Microsoft YaHei UI"/>
              </a:rPr>
              <a:t>开源仓库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892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JetBrains Mono"/>
              </a:rPr>
              <a:t>github.com/YOUR_ORG/aimes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257800"/>
            <a:ext cx="6858000" cy="548640"/>
          </a:xfrm>
          <a:prstGeom prst="roundRect">
            <a:avLst>
              <a:gd name="adj" fmla="val 15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534924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1A2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3492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00E5C7"/>
                </a:solidFill>
                <a:latin typeface="Microsoft YaHei UI"/>
              </a:rPr>
              <a:t>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3035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494"/>
                </a:solidFill>
                <a:latin typeface="Microsoft YaHei UI"/>
              </a:rPr>
              <a:t>商业版咨询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55321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EBF5"/>
                </a:solidFill>
                <a:latin typeface="JetBrains Mono"/>
              </a:rPr>
              <a:t>zenweb@163.com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897879"/>
            <a:ext cx="6858000" cy="548640"/>
          </a:xfrm>
          <a:prstGeom prst="roundRect">
            <a:avLst>
              <a:gd name="adj" fmla="val 15000"/>
            </a:avLst>
          </a:prstGeom>
          <a:solidFill>
            <a:srgbClr val="121836"/>
          </a:solidFill>
          <a:ln w="9525">
            <a:solidFill>
              <a:srgbClr val="2A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" y="5989319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1A2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989319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B547"/>
                </a:solidFill>
                <a:latin typeface="Microsoft YaHei UI"/>
              </a:rPr>
              <a:t>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943599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494"/>
                </a:solidFill>
                <a:latin typeface="Microsoft YaHei UI"/>
              </a:rPr>
              <a:t>完整文档 / Quickstart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617219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EBF5"/>
                </a:solidFill>
                <a:latin typeface="JetBrains Mono"/>
              </a:rPr>
              <a:t>_docs/quickstart.md</a:t>
            </a:r>
          </a:p>
        </p:txBody>
      </p:sp>
      <p:sp>
        <p:nvSpPr>
          <p:cNvPr id="32" name="Oval 31"/>
          <p:cNvSpPr/>
          <p:nvPr/>
        </p:nvSpPr>
        <p:spPr>
          <a:xfrm>
            <a:off x="7680960" y="1463040"/>
            <a:ext cx="4389120" cy="4389120"/>
          </a:xfrm>
          <a:prstGeom prst="ellipse">
            <a:avLst/>
          </a:prstGeom>
          <a:noFill/>
          <a:ln w="6350">
            <a:solidFill>
              <a:srgbClr val="2A3255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29600" y="2011680"/>
            <a:ext cx="3291840" cy="3291840"/>
          </a:xfrm>
          <a:prstGeom prst="ellipse">
            <a:avLst/>
          </a:prstGeom>
          <a:noFill/>
          <a:ln w="6350">
            <a:solidFill>
              <a:srgbClr val="2A3255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78240" y="2560320"/>
            <a:ext cx="2194560" cy="2194560"/>
          </a:xfrm>
          <a:prstGeom prst="ellipse">
            <a:avLst/>
          </a:prstGeom>
          <a:noFill/>
          <a:ln w="6350">
            <a:solidFill>
              <a:srgbClr val="2A3255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006840" y="2788920"/>
            <a:ext cx="1737360" cy="1737360"/>
          </a:xfrm>
          <a:prstGeom prst="ellipse">
            <a:avLst/>
          </a:prstGeom>
          <a:solidFill>
            <a:srgbClr val="4F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33375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 UI"/>
              </a:rPr>
              <a:t>Get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36118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 UI"/>
              </a:rPr>
              <a:t>Started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46336" y="1682496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121836"/>
          </a:solidFill>
          <a:ln w="9525">
            <a:solidFill>
              <a:srgbClr val="00E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46336" y="1682496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0E5C7"/>
                </a:solidFill>
                <a:latin typeface="Microsoft YaHei UI"/>
              </a:rPr>
              <a:t>5 min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192256" y="3328416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121836"/>
          </a:solidFill>
          <a:ln w="9525">
            <a:solidFill>
              <a:srgbClr val="00E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192256" y="3328416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0E5C7"/>
                </a:solidFill>
                <a:latin typeface="Microsoft YaHei UI"/>
              </a:rPr>
              <a:t>5 容器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46336" y="4974336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121836"/>
          </a:solidFill>
          <a:ln w="9525">
            <a:solidFill>
              <a:srgbClr val="00E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46336" y="4974336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0E5C7"/>
                </a:solidFill>
                <a:latin typeface="Microsoft YaHei UI"/>
              </a:rPr>
              <a:t>演示数据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00416" y="3328416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121836"/>
          </a:solidFill>
          <a:ln w="9525">
            <a:solidFill>
              <a:srgbClr val="00E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00416" y="3328416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0E5C7"/>
                </a:solidFill>
                <a:latin typeface="Microsoft YaHei UI"/>
              </a:rPr>
              <a:t>Apache 2.0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035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494"/>
                </a:solidFill>
                <a:latin typeface="Microsoft YaHei UI"/>
              </a:rPr>
              <a:t>© 2026 中山市中盈互联网科技有限公司 · Apache License 2.0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60350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0E5C7"/>
                </a:solidFill>
                <a:latin typeface="Microsoft YaHei UI"/>
              </a:rPr>
              <a:t>Thank you · 感谢观看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